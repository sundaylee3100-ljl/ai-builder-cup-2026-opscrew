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fonts/font.dat" ContentType="application/x-fontdata"/>
  <Override PartName="/ppt/fonts/font2.dat" ContentType="application/x-fontdata"/>
  <Override PartName="/ppt/fonts/font3.dat" ContentType="application/x-fontdata"/>
  <Override PartName="/ppt/fonts/font4.dat" ContentType="application/x-fontdata"/>
  <Override PartName="/ppt/fonts/font5.dat" ContentType="application/x-fontdata"/>
  <Override PartName="/ppt/fonts/font6.dat" ContentType="application/x-fontdata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25670c55c8d8466c" Type="http://schemas.openxmlformats.org/officeDocument/2006/relationships/extended-properties" Target="docProps/app.xml"/><Relationship Id="R34e28777e14c4a2d" Type="http://schemas.openxmlformats.org/officeDocument/2006/relationships/officeDocument" Target="ppt/presentation.xml"/><Relationship Id="R4384687a01be4c99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cda0a987f52a47cf"/>
  </p:sldMasterIdLst>
  <p:notesMasterIdLst>
    <p:notesMasterId xmlns:r="http://schemas.openxmlformats.org/officeDocument/2006/relationships" r:id="R5a6c632b406f4da1"/>
  </p:notesMasterIdLst>
  <p:sldIdLst>
    <p:sldId xmlns:r="http://schemas.openxmlformats.org/officeDocument/2006/relationships" id="256" r:id="Reb5232b8afe64a8f"/>
    <p:sldId xmlns:r="http://schemas.openxmlformats.org/officeDocument/2006/relationships" id="257" r:id="R94c871d924384071"/>
    <p:sldId xmlns:r="http://schemas.openxmlformats.org/officeDocument/2006/relationships" id="258" r:id="Rb38e891ed40b4cad"/>
    <p:sldId xmlns:r="http://schemas.openxmlformats.org/officeDocument/2006/relationships" id="259" r:id="Rc0d48c0bf4b94dc3"/>
    <p:sldId xmlns:r="http://schemas.openxmlformats.org/officeDocument/2006/relationships" id="260" r:id="Ref2ccd1437094db6"/>
    <p:sldId xmlns:r="http://schemas.openxmlformats.org/officeDocument/2006/relationships" id="261" r:id="R47312eddc9804082"/>
    <p:sldId xmlns:r="http://schemas.openxmlformats.org/officeDocument/2006/relationships" id="262" r:id="R0e9c217ea54a4362"/>
    <p:sldId xmlns:r="http://schemas.openxmlformats.org/officeDocument/2006/relationships" id="263" r:id="R603de30ec6d947eb"/>
    <p:sldId xmlns:r="http://schemas.openxmlformats.org/officeDocument/2006/relationships" id="264" r:id="R643a0871f24e44a3"/>
    <p:sldId xmlns:r="http://schemas.openxmlformats.org/officeDocument/2006/relationships" id="265" r:id="R7ad79343a57546c3"/>
    <p:sldId xmlns:r="http://schemas.openxmlformats.org/officeDocument/2006/relationships" id="266" r:id="R0d05250eea974300"/>
    <p:sldId xmlns:r="http://schemas.openxmlformats.org/officeDocument/2006/relationships" id="267" r:id="R684cf2986e674f98"/>
    <p:sldId xmlns:r="http://schemas.openxmlformats.org/officeDocument/2006/relationships" id="268" r:id="R1a4e487f2a574066"/>
  </p:sldIdLst>
  <p:sldSz cx="9144000" cy="5143500"/>
  <p:notesSz cx="6858000" cy="9144000"/>
  <p:embeddedFontLst>
    <p:embeddedFont>
      <p:font typeface="Google Sans Flex Medium"/>
      <p:regular xmlns:r="http://schemas.openxmlformats.org/officeDocument/2006/relationships" r:id="Rf618d354e07140ce"/>
      <p:bold xmlns:r="http://schemas.openxmlformats.org/officeDocument/2006/relationships" r:id="R18fe3d787f7e4428"/>
    </p:embeddedFont>
    <p:embeddedFont>
      <p:font typeface="Google Sans Flex"/>
      <p:regular xmlns:r="http://schemas.openxmlformats.org/officeDocument/2006/relationships" r:id="R8a8e6f715fc14da4"/>
      <p:bold xmlns:r="http://schemas.openxmlformats.org/officeDocument/2006/relationships" r:id="R2e38c51756974706"/>
    </p:embeddedFont>
    <p:embeddedFont>
      <p:font typeface="Google Sans Flex SemiBold"/>
      <p:regular xmlns:r="http://schemas.openxmlformats.org/officeDocument/2006/relationships" r:id="R5996cef705114c51"/>
      <p:bold xmlns:r="http://schemas.openxmlformats.org/officeDocument/2006/relationships" r:id="R85dc0b16838d4175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<?xml version='1.0' encoding='UTF-8' standalone='yes'?>
<Relationships xmlns="http://schemas.openxmlformats.org/package/2006/relationships"><Relationship Id="R0b419fe928f34079" Type="http://schemas.openxmlformats.org/officeDocument/2006/relationships/tableStyles" Target="tableStyles.xml"/><Relationship Id="R0d05250eea974300" Type="http://schemas.openxmlformats.org/officeDocument/2006/relationships/slide" Target="slides/slide11.xml"/><Relationship Id="R0e9c217ea54a4362" Type="http://schemas.openxmlformats.org/officeDocument/2006/relationships/slide" Target="slides/slide7.xml"/><Relationship Id="R18fe3d787f7e4428" Type="http://schemas.openxmlformats.org/officeDocument/2006/relationships/font" Target="fonts/font2.dat"/><Relationship Id="R1a4e487f2a574066" Type="http://schemas.openxmlformats.org/officeDocument/2006/relationships/slide" Target="slides/slide13.xml"/><Relationship Id="R2e38c51756974706" Type="http://schemas.openxmlformats.org/officeDocument/2006/relationships/font" Target="fonts/font4.dat"/><Relationship Id="R3f80cd63c8d54500" Type="http://schemas.openxmlformats.org/officeDocument/2006/relationships/viewProps" Target="viewProps.xml"/><Relationship Id="R47312eddc9804082" Type="http://schemas.openxmlformats.org/officeDocument/2006/relationships/slide" Target="slides/slide6.xml"/><Relationship Id="R5996cef705114c51" Type="http://schemas.openxmlformats.org/officeDocument/2006/relationships/font" Target="fonts/font5.dat"/><Relationship Id="R5a6c632b406f4da1" Type="http://schemas.openxmlformats.org/officeDocument/2006/relationships/notesMaster" Target="notesMasters/notesMaster1.xml"/><Relationship Id="R603de30ec6d947eb" Type="http://schemas.openxmlformats.org/officeDocument/2006/relationships/slide" Target="slides/slide8.xml"/><Relationship Id="R643a0871f24e44a3" Type="http://schemas.openxmlformats.org/officeDocument/2006/relationships/slide" Target="slides/slide9.xml"/><Relationship Id="R684cf2986e674f98" Type="http://schemas.openxmlformats.org/officeDocument/2006/relationships/slide" Target="slides/slide12.xml"/><Relationship Id="R7ad79343a57546c3" Type="http://schemas.openxmlformats.org/officeDocument/2006/relationships/slide" Target="slides/slide10.xml"/><Relationship Id="R85dc0b16838d4175" Type="http://schemas.openxmlformats.org/officeDocument/2006/relationships/font" Target="fonts/font6.dat"/><Relationship Id="R8a8e6f715fc14da4" Type="http://schemas.openxmlformats.org/officeDocument/2006/relationships/font" Target="fonts/font3.dat"/><Relationship Id="R8ec4044021534558" Type="http://schemas.openxmlformats.org/officeDocument/2006/relationships/theme" Target="theme/theme1.xml"/><Relationship Id="R94c871d924384071" Type="http://schemas.openxmlformats.org/officeDocument/2006/relationships/slide" Target="slides/slide2.xml"/><Relationship Id="Ra3afcff4a32f477d" Type="http://schemas.openxmlformats.org/officeDocument/2006/relationships/presProps" Target="presProps.xml"/><Relationship Id="Rb38e891ed40b4cad" Type="http://schemas.openxmlformats.org/officeDocument/2006/relationships/slide" Target="slides/slide3.xml"/><Relationship Id="Rc0d48c0bf4b94dc3" Type="http://schemas.openxmlformats.org/officeDocument/2006/relationships/slide" Target="slides/slide4.xml"/><Relationship Id="Rcda0a987f52a47cf" Type="http://schemas.openxmlformats.org/officeDocument/2006/relationships/slideMaster" Target="slideMasters/slideMaster1.xml"/><Relationship Id="Reb5232b8afe64a8f" Type="http://schemas.openxmlformats.org/officeDocument/2006/relationships/slide" Target="slides/slide1.xml"/><Relationship Id="Ref2ccd1437094db6" Type="http://schemas.openxmlformats.org/officeDocument/2006/relationships/slide" Target="slides/slide5.xml"/><Relationship Id="Rf618d354e07140ce" Type="http://schemas.openxmlformats.org/officeDocument/2006/relationships/font" Target="fonts/font.dat"/></Relationships>
</file>

<file path=ppt/notesMasters/_rels/notesMaster1.xml.rels><?xml version='1.0' encoding='UTF-8' standalone='yes'?>
<Relationships xmlns="http://schemas.openxmlformats.org/package/2006/relationships"><Relationship Id="R3be2159325664d42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7f523129ea314249" Type="http://schemas.openxmlformats.org/officeDocument/2006/relationships/notesMaster" Target="../notesMasters/notesMaster1.xml"/><Relationship Id="Rff364bb13d824bd9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0764ae413aa04ff1" Type="http://schemas.openxmlformats.org/officeDocument/2006/relationships/notesMaster" Target="../notesMasters/notesMaster1.xml"/><Relationship Id="Rfe4e42a5ae5a4987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1088581141464e98" Type="http://schemas.openxmlformats.org/officeDocument/2006/relationships/slide" Target="../slides/slide3.xml"/><Relationship Id="R8f7c3cc1ece24cac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a47fb060b19c4d48" Type="http://schemas.openxmlformats.org/officeDocument/2006/relationships/notesMaster" Target="../notesMasters/notesMaster1.xml"/><Relationship Id="Rb0b4e5a42d2942fb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1a5165cdf3a54c05" Type="http://schemas.openxmlformats.org/officeDocument/2006/relationships/notesMaster" Target="../notesMasters/notesMaster1.xml"/><Relationship Id="R4b06920d2b9d4a08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71abe53106ac4db8" Type="http://schemas.openxmlformats.org/officeDocument/2006/relationships/slide" Target="../slides/slide6.xml"/><Relationship Id="Re188b1f5294b43a5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4b51bc411c6f46b7" Type="http://schemas.openxmlformats.org/officeDocument/2006/relationships/notesMaster" Target="../notesMasters/notesMaster1.xml"/><Relationship Id="Rebe394033d57417f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112984f6e2824881" Type="http://schemas.openxmlformats.org/officeDocument/2006/relationships/notesMaster" Target="../notesMasters/notesMaster1.xml"/><Relationship Id="Rada296872cff45d0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076341f77afe4cac" Type="http://schemas.openxmlformats.org/officeDocument/2006/relationships/slide" Target="../slides/slide9.xml"/><Relationship Id="R91e9ad878fd442d0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809ddecb03884eb8" Type="http://schemas.openxmlformats.org/officeDocument/2006/relationships/notesMaster" Target="../notesMasters/notesMaster1.xml"/><Relationship Id="Rb57400c7752149d4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42c21365617e4316" Type="http://schemas.openxmlformats.org/officeDocument/2006/relationships/notesMaster" Target="../notesMasters/notesMaster1.xml"/><Relationship Id="Rdb51dc05551a4ea5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050247958fb443da" Type="http://schemas.openxmlformats.org/officeDocument/2006/relationships/notesMaster" Target="../notesMasters/notesMaster1.xml"/><Relationship Id="R21beee6668f94663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38686c5e17364af7" Type="http://schemas.openxmlformats.org/officeDocument/2006/relationships/notesMaster" Target="../notesMasters/notesMaster1.xml"/><Relationship Id="Rec9789e5beab431d" Type="http://schemas.openxmlformats.org/officeDocument/2006/relationships/slide" Target="../slides/slide13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Public captain name, when provided, comes from the owner. Eligibility and registration declarations remain the authorized team's responsibility.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https://aibuildercup.com/themes.html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Fresh Google AI Studio Build creation on 7 October. Logo supplied by owner as Gemini-generated. The owner reports that the teammate used Google Antigravity to assist Cloud deployment; this is tool attribution, not automated deployment-source attestation.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https://aibuildercup.com/themes.html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SCOPE.md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docs/POLICY_AND_CONTRACTS.md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SCOPE.md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docs/POLICY_AND_CONTRACTS.md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docs/EVALUATION_PROTOCOL.md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docs/acceptance/S03-confirmation-and-cases.md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docs/PRECLOUD_BACKEND.md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src/domain/workflow.ts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docs/S3_CONFIRMATION_CASES.md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docs/PRECLOUD_BACKEND.md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docs/acceptance/S03-confirmation-and-cases.md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docs/acceptance/S03-emulator-ui-mobile-2026-10-10.png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C:/Users/admin/Downloads/AI-Builder-Cup-2026-OpsCrew/google-build/docs/acceptance/DELIVERY-cloud-G3-2026-10-13.json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C:/Users/admin/Downloads/AI-Builder-Cup-2026-OpsCrew/google-build/docs/acceptance/DELIVERY-cloud-safety-and-fixtures-2026-10-13.json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docs/PRECLOUD_DEPLOYMENT.md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aistudio-export-2026-10-07/server/firebase-runtime.ts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PROVENANCE.md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aistudio-export-2026-10-07/package-lock.json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docs/PRECLOUD_DEPLOYMENT.md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docs/DELIVERY_WORKBOARD.md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docs/PRECLOUD_BACKEND.md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docs/EVALUATION_PROTOCOL.md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C:/Users/admin/Downloads/AI-Builder-Cup-2026-OpsCrew/google-build/docs/acceptance/DELIVERY-cloud-G3-2026-10-13.json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C:/Users/admin/Downloads/AI-Builder-Cup-2026-OpsCrew/google-build/docs/acceptance/DELIVERY-cloud-safety-and-fixtures-2026-10-13.json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docs/acceptance/PR04-build-integration-2026-10-12.json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C:/Users/admin/Downloads/AI-Builder-Cup-2026-OpsCrew/google-build/docs/acceptance/DELIVERY-cloud-G3-2026-10-13.json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C:/Users/admin/Downloads/AI-Builder-Cup-2026-OpsCrew/google-build/docs/acceptance/DELIVERY-cloud-safety-and-fixtures-2026-10-13.json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docs/PRECLOUD_EVALUATION.md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docs/CLOUD_TEAMMATE_HANDOFF.md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docs/EVALUATION_PROTOCOL.md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SUBMISSION_CHECKLIST.md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https://github.com/sundaylee3100-ljl/AI-Builder-Cup-2026-OpsCrew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SUBMISSION_CHECKLIST.md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submission/RECORDING_PLAN.md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2121a8ee73e64aea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2379ad9645d041f4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b5ac4669a6bd4133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0d73c356dcd349a4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c82a13f7a2e645c4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86d0cd0276154073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d055bbbe7a3247b7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858f7ac47da64225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b6b2333c9d1f4db5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3a3f3ccdcd4d4fc0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2b61773a9e544e5a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58301346-1F69-40D0-A668-449FD243B7D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4B3B8E25-B6DA-491D-B29F-11A585DC715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D2FE02BB-4864-4E95-941F-F21ABB9711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95BB77F6-2391-43BB-9190-D6F1885C16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C8E6133A-E5A9-4CBF-BB29-98ECA8DBC4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8BF3DA70-32E7-4603-8268-12F80FAB42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FF1AA8A1-43C3-42C1-9B33-8E3C783112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06736984-91BA-4BAC-9E38-4F8F78A4BE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7D5B50B6-F11E-4AA4-B5CC-5B06B28E90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2C0AC1DD-D97D-4BAA-9948-C6A96ECFA8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AA62DABD-29D3-4BB4-957E-0903AF1252D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A4A43016-FEFD-44C2-B7FE-6EADCE01D24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F90468E0-DA10-42D8-AEF5-875C2DA594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09601C61-7D01-46B8-8955-AA3BC56C0C5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C8C0AB9E-1554-42EA-8660-6C709C6271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E1594C40-8EDF-47D7-9C33-C87A512B53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7CDF6073-E3A5-43DE-A8AE-5BDEC15E0A9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82484CEB-575E-4B44-8DDA-999DCD71DD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CC853D1A-CC5A-4A65-84DB-0B84339592B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FC50C211-A06C-4CE2-A1A4-9363166D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4C3C1406-4F3E-4065-859E-A88051F528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6E38FB73-215D-4A5D-8675-F511EF4BA37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024C59DD-CBC3-4A75-92DF-4C7297B849C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6E162EC8-7783-4074-A114-B0A3BC079AA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27997112-1739-492B-B11F-C930834813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483B0B23-D358-4F5E-9344-53AC6762AD4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563F7853-1C02-4D29-BE3F-55D802210A4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8C77A68D-F160-4D25-8D5B-5845492697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58BB44A3-0648-43D4-ACA0-4D85BBDBBF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96881BBC-CA6A-45BE-8542-0C9442AA12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3f4299ecc1c54d01" Type="http://schemas.openxmlformats.org/officeDocument/2006/relationships/slideLayout" Target="../slideLayouts/slideLayout9.xml"/><Relationship Id="R504ca6556dee4735" Type="http://schemas.openxmlformats.org/officeDocument/2006/relationships/slideLayout" Target="../slideLayouts/slideLayout6.xml"/><Relationship Id="R58599be1d528491a" Type="http://schemas.openxmlformats.org/officeDocument/2006/relationships/slideLayout" Target="../slideLayouts/slideLayout1.xml"/><Relationship Id="R99f9e10bd21142fd" Type="http://schemas.openxmlformats.org/officeDocument/2006/relationships/slideLayout" Target="../slideLayouts/slideLayout3.xml"/><Relationship Id="Rac28f1f3171942ac" Type="http://schemas.openxmlformats.org/officeDocument/2006/relationships/theme" Target="theme/theme2.xml"/><Relationship Id="Rb3693a6965e64933" Type="http://schemas.openxmlformats.org/officeDocument/2006/relationships/slideLayout" Target="../slideLayouts/slideLayout4.xml"/><Relationship Id="Rb91085306e294a86" Type="http://schemas.openxmlformats.org/officeDocument/2006/relationships/slideLayout" Target="../slideLayouts/slideLayout5.xml"/><Relationship Id="Rc00981f750524b68" Type="http://schemas.openxmlformats.org/officeDocument/2006/relationships/slideLayout" Target="../slideLayouts/slideLayout8.xml"/><Relationship Id="Rcc1c34d1e85a40da" Type="http://schemas.openxmlformats.org/officeDocument/2006/relationships/slideLayout" Target="../slideLayouts/slideLayout11.xml"/><Relationship Id="Rceb079f45f0d4473" Type="http://schemas.openxmlformats.org/officeDocument/2006/relationships/slideLayout" Target="../slideLayouts/slideLayout10.xml"/><Relationship Id="Rd7b5b4e9dc2f4c4c" Type="http://schemas.openxmlformats.org/officeDocument/2006/relationships/slideLayout" Target="../slideLayouts/slideLayout2.xml"/><Relationship Id="Re6d40bd272924df7" Type="http://schemas.openxmlformats.org/officeDocument/2006/relationships/slideLayout" Target="../slideLayouts/slideLayout7.xml"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623CED0C-3D1B-41BE-8428-5D76880363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828163D5-8C4F-43FA-814F-1F0906F2FC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37618A52-C4A7-444F-81C0-2D5C2E1B06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599be1d528491a"/>
    <p:sldLayoutId xmlns:r="http://schemas.openxmlformats.org/officeDocument/2006/relationships" id="2147483650" r:id="Rd7b5b4e9dc2f4c4c"/>
    <p:sldLayoutId xmlns:r="http://schemas.openxmlformats.org/officeDocument/2006/relationships" id="2147483651" r:id="R99f9e10bd21142fd"/>
    <p:sldLayoutId xmlns:r="http://schemas.openxmlformats.org/officeDocument/2006/relationships" id="2147483652" r:id="Rb3693a6965e64933"/>
    <p:sldLayoutId xmlns:r="http://schemas.openxmlformats.org/officeDocument/2006/relationships" id="2147483653" r:id="Rb91085306e294a86"/>
    <p:sldLayoutId xmlns:r="http://schemas.openxmlformats.org/officeDocument/2006/relationships" id="2147483654" r:id="R504ca6556dee4735"/>
    <p:sldLayoutId xmlns:r="http://schemas.openxmlformats.org/officeDocument/2006/relationships" id="2147483655" r:id="Re6d40bd272924df7"/>
    <p:sldLayoutId xmlns:r="http://schemas.openxmlformats.org/officeDocument/2006/relationships" id="2147483656" r:id="Rc00981f750524b68"/>
    <p:sldLayoutId xmlns:r="http://schemas.openxmlformats.org/officeDocument/2006/relationships" id="2147483657" r:id="R3f4299ecc1c54d01"/>
    <p:sldLayoutId xmlns:r="http://schemas.openxmlformats.org/officeDocument/2006/relationships" id="2147483658" r:id="Rceb079f45f0d4473"/>
    <p:sldLayoutId xmlns:r="http://schemas.openxmlformats.org/officeDocument/2006/relationships" id="2147483659" r:id="Rcc1c34d1e85a40da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0001710b73247e6" Type="http://schemas.openxmlformats.org/officeDocument/2006/relationships/notesSlide" Target="../notesSlides/notesSlide1.xml"/><Relationship Id="R3864688e7baa4c9d" Type="http://schemas.openxmlformats.org/officeDocument/2006/relationships/image" Target="../media/image3.png"/><Relationship Id="R5c869123e6b34b30" Type="http://schemas.openxmlformats.org/officeDocument/2006/relationships/image" Target="../media/image.png"/><Relationship Id="R623230724ca342b6" Type="http://schemas.openxmlformats.org/officeDocument/2006/relationships/slideLayout" Target="../slideLayouts/slideLayout1.xml"/><Relationship Id="Rdb0235ca6c784d01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144309e273e84659" Type="http://schemas.openxmlformats.org/officeDocument/2006/relationships/notesSlide" Target="../notesSlides/notesSlide2.xml"/><Relationship Id="R4a79404f071c4316" Type="http://schemas.openxmlformats.org/officeDocument/2006/relationships/image" Target="../media/image4.png"/><Relationship Id="Rce7a5db4b04b4c9d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2ec4436355374fb1" Type="http://schemas.openxmlformats.org/officeDocument/2006/relationships/image" Target="../media/image2.png"/><Relationship Id="R3edc74368bf54d10" Type="http://schemas.openxmlformats.org/officeDocument/2006/relationships/notesSlide" Target="../notesSlides/notesSlide3.xml"/><Relationship Id="R4060621273fb44d2" Type="http://schemas.openxmlformats.org/officeDocument/2006/relationships/slideLayout" Target="../slideLayouts/slideLayout1.xml"/><Relationship Id="R4c9cf69c82af40e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1ece0f57192c440d" Type="http://schemas.openxmlformats.org/officeDocument/2006/relationships/notesSlide" Target="../notesSlides/notesSlide4.xml"/><Relationship Id="R256bbdf5b6784483" Type="http://schemas.openxmlformats.org/officeDocument/2006/relationships/image" Target="../media/image4.png"/><Relationship Id="R85e2f9fc003042d3" Type="http://schemas.openxmlformats.org/officeDocument/2006/relationships/slideLayout" Target="../slideLayouts/slideLayout1.xml"/><Relationship Id="Rd3d0dd1f010b4417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3a551c61a22d45ce" Type="http://schemas.openxmlformats.org/officeDocument/2006/relationships/image" Target="../media/image4.png"/><Relationship Id="R5390baae44d74ebd" Type="http://schemas.openxmlformats.org/officeDocument/2006/relationships/slideLayout" Target="../slideLayouts/slideLayout1.xml"/><Relationship Id="Rb861f4cda0c94e32" Type="http://schemas.openxmlformats.org/officeDocument/2006/relationships/image" Target="../media/image2.png"/><Relationship Id="Rd31e05d83aa74f0c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7a821514d3b44b54" Type="http://schemas.openxmlformats.org/officeDocument/2006/relationships/notesSlide" Target="../notesSlides/notesSlide6.xml"/><Relationship Id="R7ee46b348e5049f5" Type="http://schemas.openxmlformats.org/officeDocument/2006/relationships/image" Target="../media/image2.png"/><Relationship Id="Rba82e185b6ba4bd8" Type="http://schemas.openxmlformats.org/officeDocument/2006/relationships/image" Target="../media/image4.png"/><Relationship Id="Rc1ea80e6882f450d" Type="http://schemas.openxmlformats.org/officeDocument/2006/relationships/image" Target="../media/image.jpeg"/><Relationship Id="Rc80babaa2067444e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164f1759a5d54763" Type="http://schemas.openxmlformats.org/officeDocument/2006/relationships/image" Target="../media/image2.png"/><Relationship Id="R4fb785917b2d424b" Type="http://schemas.openxmlformats.org/officeDocument/2006/relationships/notesSlide" Target="../notesSlides/notesSlide7.xml"/><Relationship Id="Rce84b5cdb3b44a81" Type="http://schemas.openxmlformats.org/officeDocument/2006/relationships/image" Target="../media/image4.png"/><Relationship Id="Re90e4cf523ef4b6d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2ef9ddb0717642e9" Type="http://schemas.openxmlformats.org/officeDocument/2006/relationships/slideLayout" Target="../slideLayouts/slideLayout1.xml"/><Relationship Id="R6a5f464b55a04964" Type="http://schemas.openxmlformats.org/officeDocument/2006/relationships/image" Target="../media/image2.png"/><Relationship Id="R8cea30689de44d3b" Type="http://schemas.openxmlformats.org/officeDocument/2006/relationships/notesSlide" Target="../notesSlides/notesSlide8.xml"/><Relationship Id="Rd31c7e602b454b4d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3dcfdc459bc94f91" Type="http://schemas.openxmlformats.org/officeDocument/2006/relationships/image" Target="../media/image4.png"/><Relationship Id="R5c22642420f84845" Type="http://schemas.openxmlformats.org/officeDocument/2006/relationships/image" Target="../media/image2.png"/><Relationship Id="R5ed20f7a02db4646" Type="http://schemas.openxmlformats.org/officeDocument/2006/relationships/slideLayout" Target="../slideLayouts/slideLayout1.xml"/><Relationship Id="R9b1720b5de3d4fa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4bd1bfbbc11e462f" Type="http://schemas.openxmlformats.org/officeDocument/2006/relationships/notesSlide" Target="../notesSlides/notesSlide10.xml"/><Relationship Id="R5f580eb9cc854fbc" Type="http://schemas.openxmlformats.org/officeDocument/2006/relationships/slideLayout" Target="../slideLayouts/slideLayout1.xml"/><Relationship Id="Rb387de5591ef477a" Type="http://schemas.openxmlformats.org/officeDocument/2006/relationships/image" Target="../media/image4.png"/><Relationship Id="Ree09428d64694200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0664dc244deb477e" Type="http://schemas.openxmlformats.org/officeDocument/2006/relationships/notesSlide" Target="../notesSlides/notesSlide11.xml"/><Relationship Id="R74cb038307b143c4" Type="http://schemas.openxmlformats.org/officeDocument/2006/relationships/image" Target="../media/image4.png"/><Relationship Id="R84e4dc682f274775" Type="http://schemas.openxmlformats.org/officeDocument/2006/relationships/image" Target="../media/image2.png"/><Relationship Id="Rf6e884184d3d4dae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2a1971ac422b4aa5" Type="http://schemas.openxmlformats.org/officeDocument/2006/relationships/image" Target="../media/image2.png"/><Relationship Id="Rdb3b681b0d364a51" Type="http://schemas.openxmlformats.org/officeDocument/2006/relationships/slideLayout" Target="../slideLayouts/slideLayout1.xml"/><Relationship Id="Re84740d58ab24c4f" Type="http://schemas.openxmlformats.org/officeDocument/2006/relationships/image" Target="../media/image4.png"/><Relationship Id="Rfad531b7d41841d1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2f0e449bd62d40d1" Type="http://schemas.openxmlformats.org/officeDocument/2006/relationships/hyperlink" Target="https://github.com/sundaylee3100-ljl/AI-Builder-Cup-2026-OpsCrew" TargetMode="External"/><Relationship Id="R51ea23ed02e241b0" Type="http://schemas.openxmlformats.org/officeDocument/2006/relationships/hyperlink" Target="https://youtu.be/h53-tucE7ig" TargetMode="External"/><Relationship Id="R709ee7306fcd4234" Type="http://schemas.openxmlformats.org/officeDocument/2006/relationships/image" Target="../media/image2.png"/><Relationship Id="R9942471148af4dbb" Type="http://schemas.openxmlformats.org/officeDocument/2006/relationships/image" Target="../media/image4.png"/><Relationship Id="Rc15ebd9a34d34f41" Type="http://schemas.openxmlformats.org/officeDocument/2006/relationships/slideLayout" Target="../slideLayouts/slideLayout1.xml"/><Relationship Id="Rd483e47366b0432a" Type="http://schemas.openxmlformats.org/officeDocument/2006/relationships/notesSlide" Target="../notesSlides/notesSlide13.xml"/><Relationship Id="Re20a4f6912fc4aa9" Type="http://schemas.openxmlformats.org/officeDocument/2006/relationships/hyperlink" Target="https://opscrew-883881551915.us-central1.run.app" TargetMode="Externa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5" name="Google Shape;55;p13">
            <a:extLst xmlns:a="http://schemas.openxmlformats.org/drawingml/2006/main">
              <a:ext uri="{FF2B5EF4-FFF2-40B4-BE49-F238E27FC236}">
                <a16:creationId xmlns:a16="http://schemas.microsoft.com/office/drawing/2014/main" id="{7F2878B0-2C61-4390-9D83-69B2A71963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869123e6b34b3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3"/>
            <a:ext cx="9144000" cy="27155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6" name="Google Shape;56;p13">
            <a:extLst xmlns:a="http://schemas.openxmlformats.org/drawingml/2006/main">
              <a:ext uri="{FF2B5EF4-FFF2-40B4-BE49-F238E27FC236}">
                <a16:creationId xmlns:a16="http://schemas.microsoft.com/office/drawing/2014/main" id="{CCA28A35-651B-4308-8800-B3548887F2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b0235ca6c784d01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7" name="Team OpsCrew">
            <a:extLst xmlns:a="http://schemas.openxmlformats.org/drawingml/2006/main">
              <a:ext uri="{FF2B5EF4-FFF2-40B4-BE49-F238E27FC236}">
                <a16:creationId xmlns:a16="http://schemas.microsoft.com/office/drawing/2014/main" id="{03103B08-47CC-42D1-B083-599299B6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886075"/>
            <a:ext cx="708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2400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Team OpsCrew</a:t>
            </a:r>
          </a:p>
        </p:txBody>
      </p:sp>
      <p:sp>
        <p:nvSpPr>
          <p:cNvPr id="58" name="Expense exception plans with human confirmation">
            <a:extLst xmlns:a="http://schemas.openxmlformats.org/drawingml/2006/main">
              <a:ext uri="{FF2B5EF4-FFF2-40B4-BE49-F238E27FC236}">
                <a16:creationId xmlns:a16="http://schemas.microsoft.com/office/drawing/2014/main" id="{A2ACDAD8-F006-4FDC-ADE6-25A8003E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381375"/>
            <a:ext cx="7000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0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Expense exception plans with human confirmation</a:t>
            </a:r>
          </a:p>
        </p:txBody>
      </p:sp>
      <p:sp>
        <p:nvSpPr>
          <p:cNvPr id="59" name="Captain: Sunday Lee&#10;Theme: Future of Work &amp; Enterp">
            <a:extLst xmlns:a="http://schemas.openxmlformats.org/drawingml/2006/main">
              <a:ext uri="{FF2B5EF4-FFF2-40B4-BE49-F238E27FC236}">
                <a16:creationId xmlns:a16="http://schemas.microsoft.com/office/drawing/2014/main" id="{646FC88B-FCEA-4A68-8AEA-912157CF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076700"/>
            <a:ext cx="719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42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Captain: Sunday Lee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42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Theme: Future of Work &amp; Enterprise Productivity</a:t>
            </a:r>
          </a:p>
        </p:txBody>
      </p:sp>
      <p:sp>
        <p:nvSpPr>
          <p:cNvPr id="60" name="Cloud evidence review  /  14 October 2026">
            <a:extLst xmlns:a="http://schemas.openxmlformats.org/drawingml/2006/main">
              <a:ext uri="{FF2B5EF4-FFF2-40B4-BE49-F238E27FC236}">
                <a16:creationId xmlns:a16="http://schemas.microsoft.com/office/drawing/2014/main" id="{933A3D33-5FA6-418B-BF03-70F06AB3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714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Cloud evidence review  /  14 October 2026</a:t>
            </a:r>
          </a:p>
        </p:txBody>
      </p:sp>
      <p:pic>
        <p:nvPic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A3B00DB-4685-40C2-B9BD-6B970FBCB1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64688e7baa4c9d"/>
          <a:stretch xmlns:a="http://schemas.openxmlformats.org/drawingml/2006/main"/>
        </p:blipFill>
        <p:spPr>
          <a:xfrm xmlns:a="http://schemas.openxmlformats.org/drawingml/2006/main">
            <a:off x="7639050" y="3478054"/>
            <a:ext cx="1238250" cy="122586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66475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9" name="Google Shape;69;p15">
            <a:extLst xmlns:a="http://schemas.openxmlformats.org/drawingml/2006/main">
              <a:ext uri="{FF2B5EF4-FFF2-40B4-BE49-F238E27FC236}">
                <a16:creationId xmlns:a16="http://schemas.microsoft.com/office/drawing/2014/main" id="{296DF3C2-A163-4CF4-84B9-B408ECE1BD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79404f071c431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0" name="Google Shape;70;p15">
            <a:extLst xmlns:a="http://schemas.openxmlformats.org/drawingml/2006/main">
              <a:ext uri="{FF2B5EF4-FFF2-40B4-BE49-F238E27FC236}">
                <a16:creationId xmlns:a16="http://schemas.microsoft.com/office/drawing/2014/main" id="{496DB8C7-0773-4311-9F3B-A965363C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Brief about the idea">
            <a:extLst xmlns:a="http://schemas.openxmlformats.org/drawingml/2006/main">
              <a:ext uri="{FF2B5EF4-FFF2-40B4-BE49-F238E27FC236}">
                <a16:creationId xmlns:a16="http://schemas.microsoft.com/office/drawing/2014/main" id="{8870C050-55D1-4C80-B5EC-2D23F425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610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Brief about the idea</a:t>
            </a:r>
          </a:p>
        </p:txBody>
      </p:sp>
      <p:sp>
        <p:nvSpPr>
          <p:cNvPr id="72" name="OpsCrew  /  Cloud evidence review  /  2">
            <a:extLst xmlns:a="http://schemas.openxmlformats.org/drawingml/2006/main">
              <a:ext uri="{FF2B5EF4-FFF2-40B4-BE49-F238E27FC236}">
                <a16:creationId xmlns:a16="http://schemas.microsoft.com/office/drawing/2014/main" id="{03BB2D44-EC5C-4BD5-80B4-553D55A3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OpsCrew  /  Cloud evidence review  /  2</a:t>
            </a:r>
          </a:p>
        </p:txBody>
      </p:sp>
      <p:sp>
        <p:nvSpPr>
          <p:cNvPr id="73" name="OpsCrew helps operations staff turn a synthetic ex">
            <a:extLst xmlns:a="http://schemas.openxmlformats.org/drawingml/2006/main">
              <a:ext uri="{FF2B5EF4-FFF2-40B4-BE49-F238E27FC236}">
                <a16:creationId xmlns:a16="http://schemas.microsoft.com/office/drawing/2014/main" id="{ED2F4015-B499-40F7-9A94-6C4701B4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57300"/>
            <a:ext cx="845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OpsCrew helps operations staff turn a synthetic expense exception into a supported handling plan.</a:t>
            </a:r>
          </a:p>
        </p:txBody>
      </p:sp>
      <p:sp>
        <p:nvSpPr>
          <p:cNvPr id="74" name="Gemini extracts facts, proposes steps, then review">
            <a:extLst xmlns:a="http://schemas.openxmlformats.org/drawingml/2006/main">
              <a:ext uri="{FF2B5EF4-FFF2-40B4-BE49-F238E27FC236}">
                <a16:creationId xmlns:a16="http://schemas.microsoft.com/office/drawing/2014/main" id="{20D90CF8-B560-4368-9E0E-20F8D088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076450"/>
            <a:ext cx="845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Gemini extracts facts, proposes steps, then reviews the proposal in a separate call. Fixed policy checks constrain each stage.</a:t>
            </a:r>
          </a:p>
        </p:txBody>
      </p:sp>
      <p:sp>
        <p:nvSpPr>
          <p:cNvPr id="75" name="A person reviews the current plan and explicitly c">
            <a:extLst xmlns:a="http://schemas.openxmlformats.org/drawingml/2006/main">
              <a:ext uri="{FF2B5EF4-FFF2-40B4-BE49-F238E27FC236}">
                <a16:creationId xmlns:a16="http://schemas.microsoft.com/office/drawing/2014/main" id="{C223DC58-9D27-4B87-975E-F8DE3FE4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895600"/>
            <a:ext cx="845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A person reviews the current plan and explicitly confirms a case. The app reads the saved record independently before showing success.</a:t>
            </a:r>
          </a:p>
        </p:txBody>
      </p:sp>
      <p:sp>
        <p:nvSpPr>
          <p:cNvPr id="76" name="The prototype covers one synthetic USD policy. It ">
            <a:extLst xmlns:a="http://schemas.openxmlformats.org/drawingml/2006/main">
              <a:ext uri="{FF2B5EF4-FFF2-40B4-BE49-F238E27FC236}">
                <a16:creationId xmlns:a16="http://schemas.microsoft.com/office/drawing/2014/main" id="{08D76559-B260-4ECA-A5D2-E7734DC8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714750"/>
            <a:ext cx="845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The prototype covers one synthetic USD policy. It creates handling records and performs no reimbursement or payment.</a:t>
            </a:r>
          </a:p>
        </p:txBody>
      </p:sp>
    </p:spTree>
    <p:extLst>
      <p:ext uri="{BB962C8B-B14F-4D97-AF65-F5344CB8AC3E}">
        <p14:creationId xmlns:p14="http://schemas.microsoft.com/office/powerpoint/2010/main" val="60364056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6" name="Google Shape;76;p16">
            <a:extLst xmlns:a="http://schemas.openxmlformats.org/drawingml/2006/main">
              <a:ext uri="{FF2B5EF4-FFF2-40B4-BE49-F238E27FC236}">
                <a16:creationId xmlns:a16="http://schemas.microsoft.com/office/drawing/2014/main" id="{55F33BA2-23B3-4A7A-ABDE-60F7B4C57F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ec4436355374fb1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7" name="Google Shape;77;p16">
            <a:extLst xmlns:a="http://schemas.openxmlformats.org/drawingml/2006/main">
              <a:ext uri="{FF2B5EF4-FFF2-40B4-BE49-F238E27FC236}">
                <a16:creationId xmlns:a16="http://schemas.microsoft.com/office/drawing/2014/main" id="{994FEDEE-7588-49E0-9BD1-B1C587A4C1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9cf69c82af40e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8" name="Google Shape;78;p16">
            <a:extLst xmlns:a="http://schemas.openxmlformats.org/drawingml/2006/main">
              <a:ext uri="{FF2B5EF4-FFF2-40B4-BE49-F238E27FC236}">
                <a16:creationId xmlns:a16="http://schemas.microsoft.com/office/drawing/2014/main" id="{EEC52967-A51C-4E8C-8F6F-B4AEABE8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Opportunities and proposed value">
            <a:extLst xmlns:a="http://schemas.openxmlformats.org/drawingml/2006/main">
              <a:ext uri="{FF2B5EF4-FFF2-40B4-BE49-F238E27FC236}">
                <a16:creationId xmlns:a16="http://schemas.microsoft.com/office/drawing/2014/main" id="{D533F0A8-D008-4AE5-AC4F-494F433A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610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Opportunities and proposed value</a:t>
            </a:r>
          </a:p>
        </p:txBody>
      </p:sp>
      <p:sp>
        <p:nvSpPr>
          <p:cNvPr id="80" name="OpsCrew  /  Cloud evidence review  /  3">
            <a:extLst xmlns:a="http://schemas.openxmlformats.org/drawingml/2006/main">
              <a:ext uri="{FF2B5EF4-FFF2-40B4-BE49-F238E27FC236}">
                <a16:creationId xmlns:a16="http://schemas.microsoft.com/office/drawing/2014/main" id="{F475BC2A-9334-4822-8733-5AD6BD17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OpsCrew  /  Cloud evidence review  /  3</a:t>
            </a:r>
          </a:p>
        </p:txBody>
      </p:sp>
      <p:sp>
        <p:nvSpPr>
          <p:cNvPr id="81" name="Problem: staff must reconcile intake text, missing">
            <a:extLst xmlns:a="http://schemas.openxmlformats.org/drawingml/2006/main">
              <a:ext uri="{FF2B5EF4-FFF2-40B4-BE49-F238E27FC236}">
                <a16:creationId xmlns:a16="http://schemas.microsoft.com/office/drawing/2014/main" id="{80F9A622-CA56-4AEF-A5CC-AAD656E9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57300"/>
            <a:ext cx="8458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Problem: staff must reconcile intake text, missing receipts and policy thresholds before deciding what to request next.</a:t>
            </a:r>
          </a:p>
        </p:txBody>
      </p:sp>
      <p:sp>
        <p:nvSpPr>
          <p:cNvPr id="82" name="Proposed difference: OpsCrew binds the plan to sup">
            <a:extLst xmlns:a="http://schemas.openxmlformats.org/drawingml/2006/main">
              <a:ext uri="{FF2B5EF4-FFF2-40B4-BE49-F238E27FC236}">
                <a16:creationId xmlns:a16="http://schemas.microsoft.com/office/drawing/2014/main" id="{6341E1B6-347C-46D3-AF5A-168C8BBC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085975"/>
            <a:ext cx="8458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Proposed difference: OpsCrew binds the plan to supported facts and exact policy clauses, then stores the person's confirmation with that version.</a:t>
            </a:r>
          </a:p>
        </p:txBody>
      </p:sp>
      <p:sp>
        <p:nvSpPr>
          <p:cNvPr id="83" name="Design value: input edits invalidate old plans. Co">
            <a:extLst xmlns:a="http://schemas.openxmlformats.org/drawingml/2006/main">
              <a:ext uri="{FF2B5EF4-FFF2-40B4-BE49-F238E27FC236}">
                <a16:creationId xmlns:a16="http://schemas.microsoft.com/office/drawing/2014/main" id="{BAB680D3-BE58-4803-976E-65F1149A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914650"/>
            <a:ext cx="8458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Design value: input edits invalidate old plans. Contradictions and unsupported citations block case creation.</a:t>
            </a:r>
          </a:p>
        </p:txBody>
      </p:sp>
      <p:sp>
        <p:nvSpPr>
          <p:cNvPr id="84" name="Expected impact: clearer exception triage and fewe">
            <a:extLst xmlns:a="http://schemas.openxmlformats.org/drawingml/2006/main">
              <a:ext uri="{FF2B5EF4-FFF2-40B4-BE49-F238E27FC236}">
                <a16:creationId xmlns:a16="http://schemas.microsoft.com/office/drawing/2014/main" id="{9591028F-859A-4C55-97E2-DE61666E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743325"/>
            <a:ext cx="8458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Expected impact: clearer exception triage and fewer unsupported actions. Actual staff time savings and customer adoption remain unmeasured.</a:t>
            </a:r>
          </a:p>
        </p:txBody>
      </p:sp>
    </p:spTree>
    <p:extLst>
      <p:ext uri="{BB962C8B-B14F-4D97-AF65-F5344CB8AC3E}">
        <p14:creationId xmlns:p14="http://schemas.microsoft.com/office/powerpoint/2010/main" val="30762093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4" name="Google Shape;84;p17">
            <a:extLst xmlns:a="http://schemas.openxmlformats.org/drawingml/2006/main">
              <a:ext uri="{FF2B5EF4-FFF2-40B4-BE49-F238E27FC236}">
                <a16:creationId xmlns:a16="http://schemas.microsoft.com/office/drawing/2014/main" id="{DD080FE6-036D-474B-BEC8-1AF23F3E13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3d0dd1f010b4417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5" name="Google Shape;85;p17">
            <a:extLst xmlns:a="http://schemas.openxmlformats.org/drawingml/2006/main">
              <a:ext uri="{FF2B5EF4-FFF2-40B4-BE49-F238E27FC236}">
                <a16:creationId xmlns:a16="http://schemas.microsoft.com/office/drawing/2014/main" id="{07075421-8A91-4B8B-9814-F68E68141E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6bbdf5b6784483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6" name="Google Shape;86;p17">
            <a:extLst xmlns:a="http://schemas.openxmlformats.org/drawingml/2006/main">
              <a:ext uri="{FF2B5EF4-FFF2-40B4-BE49-F238E27FC236}">
                <a16:creationId xmlns:a16="http://schemas.microsoft.com/office/drawing/2014/main" id="{C8C6958D-4BB1-4F57-A1AC-96D147E4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Features offered by the solution">
            <a:extLst xmlns:a="http://schemas.openxmlformats.org/drawingml/2006/main">
              <a:ext uri="{FF2B5EF4-FFF2-40B4-BE49-F238E27FC236}">
                <a16:creationId xmlns:a16="http://schemas.microsoft.com/office/drawing/2014/main" id="{01B6257E-9580-46C1-B500-F3B76A36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610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Features offered by the solution</a:t>
            </a:r>
          </a:p>
        </p:txBody>
      </p:sp>
      <p:sp>
        <p:nvSpPr>
          <p:cNvPr id="88" name="OpsCrew  /  Cloud evidence review  /  4">
            <a:extLst xmlns:a="http://schemas.openxmlformats.org/drawingml/2006/main">
              <a:ext uri="{FF2B5EF4-FFF2-40B4-BE49-F238E27FC236}">
                <a16:creationId xmlns:a16="http://schemas.microsoft.com/office/drawing/2014/main" id="{99D43612-A0E0-4B28-B9C4-51386A06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OpsCrew  /  Cloud evidence review  /  4</a:t>
            </a:r>
          </a:p>
        </p:txBody>
      </p:sp>
      <p:sp>
        <p:nvSpPr>
          <p:cNvPr id="89" name="Synthetic presets and original text citations make">
            <a:extLst xmlns:a="http://schemas.openxmlformats.org/drawingml/2006/main">
              <a:ext uri="{FF2B5EF4-FFF2-40B4-BE49-F238E27FC236}">
                <a16:creationId xmlns:a16="http://schemas.microsoft.com/office/drawing/2014/main" id="{CBE86326-C3BB-45C9-8969-C68BBB20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314450"/>
            <a:ext cx="8458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Synthetic presets and original text citations make intake decisions inspectable.</a:t>
            </a:r>
          </a:p>
        </p:txBody>
      </p:sp>
      <p:sp>
        <p:nvSpPr>
          <p:cNvPr id="90" name="Facts, Planner and Reviewer outputs expose disagre">
            <a:extLst xmlns:a="http://schemas.openxmlformats.org/drawingml/2006/main">
              <a:ext uri="{FF2B5EF4-FFF2-40B4-BE49-F238E27FC236}">
                <a16:creationId xmlns:a16="http://schemas.microsoft.com/office/drawing/2014/main" id="{669F9513-C92E-41BF-A446-91BCF1B6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114550"/>
            <a:ext cx="8458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Facts, Planner and Reviewer outputs expose disagreements and exact policy evidence.</a:t>
            </a:r>
          </a:p>
        </p:txBody>
      </p:sp>
      <p:sp>
        <p:nvSpPr>
          <p:cNvPr id="91" name="Firebase visitor identity, owned history and versi">
            <a:extLst xmlns:a="http://schemas.openxmlformats.org/drawingml/2006/main">
              <a:ext uri="{FF2B5EF4-FFF2-40B4-BE49-F238E27FC236}">
                <a16:creationId xmlns:a16="http://schemas.microsoft.com/office/drawing/2014/main" id="{75787F26-A5A7-4CDF-9F7E-33ED7BF9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914650"/>
            <a:ext cx="8458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Firebase visitor identity, owned history and version-bound confirmation protect each person's handling records.</a:t>
            </a:r>
          </a:p>
        </p:txBody>
      </p:sp>
      <p:sp>
        <p:nvSpPr>
          <p:cNvPr id="92" name="Atomic writes, idempotent recovery and independent">
            <a:extLst xmlns:a="http://schemas.openxmlformats.org/drawingml/2006/main">
              <a:ext uri="{FF2B5EF4-FFF2-40B4-BE49-F238E27FC236}">
                <a16:creationId xmlns:a16="http://schemas.microsoft.com/office/drawing/2014/main" id="{5C60F303-CB11-42BD-B627-3562A9B8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714750"/>
            <a:ext cx="8458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Atomic writes, idempotent recovery and independent readback prevent duplicate or unverified success. Shared quotas bound model traffic.</a:t>
            </a:r>
          </a:p>
        </p:txBody>
      </p:sp>
    </p:spTree>
    <p:extLst>
      <p:ext uri="{BB962C8B-B14F-4D97-AF65-F5344CB8AC3E}">
        <p14:creationId xmlns:p14="http://schemas.microsoft.com/office/powerpoint/2010/main" val="145560647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0421DD4-6638-425D-81C1-3E481CD66F42}"/>
              </a:ext>
            </a:extLst>
          </p:cNvPr>
          <p:cNvCxnSpPr>
            <a:stCxn xmlns:a="http://schemas.openxmlformats.org/drawingml/2006/main" id="99" idx="2"/>
            <a:endCxn xmlns:a="http://schemas.openxmlformats.org/drawingml/2006/main" id="104" idx="0"/>
          </p:cNvCxnSpPr>
          <p:nvPr/>
        </p:nvCxnSpPr>
        <p:spPr>
          <a:xfrm xmlns:a="http://schemas.openxmlformats.org/drawingml/2006/main">
            <a:off x="7510463" y="2143125"/>
            <a:ext cx="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67481"/>
            </a:solidFill>
            <a:prstDash val="solid"/>
            <a:tailEnd type="triangle" w="med" len="med"/>
          </a:ln>
        </p:spPr>
      </p:cxnSp>
      <p:pic>
        <p:nvPicPr>
          <p:cNvPr id="92" name="Google Shape;92;p18">
            <a:extLst xmlns:a="http://schemas.openxmlformats.org/drawingml/2006/main">
              <a:ext uri="{FF2B5EF4-FFF2-40B4-BE49-F238E27FC236}">
                <a16:creationId xmlns:a16="http://schemas.microsoft.com/office/drawing/2014/main" id="{01C0ED75-F5E5-4148-9BED-7DCEFDAF73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861f4cda0c94e32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3" name="Google Shape;93;p18">
            <a:extLst xmlns:a="http://schemas.openxmlformats.org/drawingml/2006/main">
              <a:ext uri="{FF2B5EF4-FFF2-40B4-BE49-F238E27FC236}">
                <a16:creationId xmlns:a16="http://schemas.microsoft.com/office/drawing/2014/main" id="{598FF8DD-2F4E-4459-8BB5-1865D4F862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551c61a22d45c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4" name="Google Shape;94;p18">
            <a:extLst xmlns:a="http://schemas.openxmlformats.org/drawingml/2006/main">
              <a:ext uri="{FF2B5EF4-FFF2-40B4-BE49-F238E27FC236}">
                <a16:creationId xmlns:a16="http://schemas.microsoft.com/office/drawing/2014/main" id="{24430BEF-D094-48C0-ACB3-E7BA9B32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Process flow and confirmation">
            <a:extLst xmlns:a="http://schemas.openxmlformats.org/drawingml/2006/main">
              <a:ext uri="{FF2B5EF4-FFF2-40B4-BE49-F238E27FC236}">
                <a16:creationId xmlns:a16="http://schemas.microsoft.com/office/drawing/2014/main" id="{71A2DAFF-79E3-4D09-A9D7-408F8D21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610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Process flow and confirmation</a:t>
            </a:r>
          </a:p>
        </p:txBody>
      </p:sp>
      <p:sp>
        <p:nvSpPr>
          <p:cNvPr id="96" name="OpsCrew  /  Cloud evidence review  /  5">
            <a:extLst xmlns:a="http://schemas.openxmlformats.org/drawingml/2006/main">
              <a:ext uri="{FF2B5EF4-FFF2-40B4-BE49-F238E27FC236}">
                <a16:creationId xmlns:a16="http://schemas.microsoft.com/office/drawing/2014/main" id="{85B3EDCF-6D8C-40A6-925A-7CA8F137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OpsCrew  /  Cloud evidence review  /  5</a:t>
            </a:r>
          </a:p>
        </p:txBody>
      </p:sp>
      <p:sp>
        <p:nvSpPr>
          <p:cNvPr id="97" name="Synthetic intake">
            <a:extLst xmlns:a="http://schemas.openxmlformats.org/drawingml/2006/main">
              <a:ext uri="{FF2B5EF4-FFF2-40B4-BE49-F238E27FC236}">
                <a16:creationId xmlns:a16="http://schemas.microsoft.com/office/drawing/2014/main" id="{F2178281-2386-48A6-98D0-FB052A37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381125"/>
            <a:ext cx="2524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9525">
            <a:solidFill>
              <a:srgbClr val="B8CCD3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Synthetic intake</a:t>
            </a:r>
          </a:p>
        </p:txBody>
      </p:sp>
      <p:sp>
        <p:nvSpPr>
          <p:cNvPr id="98" name="Gemini facts">
            <a:extLst xmlns:a="http://schemas.openxmlformats.org/drawingml/2006/main">
              <a:ext uri="{FF2B5EF4-FFF2-40B4-BE49-F238E27FC236}">
                <a16:creationId xmlns:a16="http://schemas.microsoft.com/office/drawing/2014/main" id="{2C901F65-5C3F-4EB9-B1E4-75D3664A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381125"/>
            <a:ext cx="2524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9525">
            <a:solidFill>
              <a:srgbClr val="B8CCD3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Gemini facts</a:t>
            </a:r>
          </a:p>
        </p:txBody>
      </p:sp>
      <p:sp>
        <p:nvSpPr>
          <p:cNvPr id="99" name="Planner + Reviewer">
            <a:extLst xmlns:a="http://schemas.openxmlformats.org/drawingml/2006/main">
              <a:ext uri="{FF2B5EF4-FFF2-40B4-BE49-F238E27FC236}">
                <a16:creationId xmlns:a16="http://schemas.microsoft.com/office/drawing/2014/main" id="{CB879294-78F8-48FF-A3CD-C80772E5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81125"/>
            <a:ext cx="2524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9525">
            <a:solidFill>
              <a:srgbClr val="B8CCD3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Planner + Reviewer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C6D07E0-CA13-4CCA-8BBA-E7A9FBA1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657350"/>
            <a:ext cx="2571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67481"/>
          </a:solidFill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B6CF00C-2948-40B5-B773-676377CE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57350"/>
            <a:ext cx="2571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67481"/>
          </a:solidFill>
          <a:ln xmlns:a="http://schemas.openxmlformats.org/drawingml/2006/main" w="0">
            <a:noFill/>
          </a:ln>
        </p:spPr>
      </p:sp>
      <p:sp>
        <p:nvSpPr>
          <p:cNvPr id="102" name="Saved record readback">
            <a:extLst xmlns:a="http://schemas.openxmlformats.org/drawingml/2006/main">
              <a:ext uri="{FF2B5EF4-FFF2-40B4-BE49-F238E27FC236}">
                <a16:creationId xmlns:a16="http://schemas.microsoft.com/office/drawing/2014/main" id="{41F66DE6-131C-469A-BE7D-066DF343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790825"/>
            <a:ext cx="2524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9525">
            <a:solidFill>
              <a:srgbClr val="B8CCD3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Saved record readback</a:t>
            </a:r>
          </a:p>
        </p:txBody>
      </p:sp>
      <p:sp>
        <p:nvSpPr>
          <p:cNvPr id="103" name="Human confirmation">
            <a:extLst xmlns:a="http://schemas.openxmlformats.org/drawingml/2006/main">
              <a:ext uri="{FF2B5EF4-FFF2-40B4-BE49-F238E27FC236}">
                <a16:creationId xmlns:a16="http://schemas.microsoft.com/office/drawing/2014/main" id="{EE6BFA52-1FF2-4B89-955D-A60E1641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90825"/>
            <a:ext cx="2524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9525">
            <a:solidFill>
              <a:srgbClr val="B8CCD3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Human confirmation</a:t>
            </a:r>
          </a:p>
        </p:txBody>
      </p:sp>
      <p:sp>
        <p:nvSpPr>
          <p:cNvPr id="104" name="Fixed policy checks">
            <a:extLst xmlns:a="http://schemas.openxmlformats.org/drawingml/2006/main">
              <a:ext uri="{FF2B5EF4-FFF2-40B4-BE49-F238E27FC236}">
                <a16:creationId xmlns:a16="http://schemas.microsoft.com/office/drawing/2014/main" id="{5E404FE0-81BC-44EE-BE84-DDE84132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90825"/>
            <a:ext cx="2524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9525">
            <a:solidFill>
              <a:srgbClr val="B8CCD3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Fixed policy checks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D40724B-9449-41BD-A412-70E9A056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67050"/>
            <a:ext cx="257175" cy="2095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67481"/>
          </a:solidFill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2393BE5-7A41-4039-B7CD-42700812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67050"/>
            <a:ext cx="257175" cy="2095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67481"/>
          </a:solidFill>
          <a:ln xmlns:a="http://schemas.openxmlformats.org/drawingml/2006/main" w="0">
            <a:noFill/>
          </a:ln>
        </p:spPr>
      </p:sp>
      <p:sp>
        <p:nvSpPr>
          <p:cNvPr id="108" name="Missing evidence produces a request plan. Contradi">
            <a:extLst xmlns:a="http://schemas.openxmlformats.org/drawingml/2006/main">
              <a:ext uri="{FF2B5EF4-FFF2-40B4-BE49-F238E27FC236}">
                <a16:creationId xmlns:a16="http://schemas.microsoft.com/office/drawing/2014/main" id="{8902FE31-D848-471B-B0F2-7D0D71BB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962400"/>
            <a:ext cx="84296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Missing evidence produces a request plan. Contradictions block progression.</a:t>
            </a:r>
          </a:p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Editing intake requires a new analysis and a new confirmation.</a:t>
            </a:r>
          </a:p>
        </p:txBody>
      </p:sp>
    </p:spTree>
    <p:extLst>
      <p:ext uri="{BB962C8B-B14F-4D97-AF65-F5344CB8AC3E}">
        <p14:creationId xmlns:p14="http://schemas.microsoft.com/office/powerpoint/2010/main" val="53762784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0" name="Google Shape;100;p19">
            <a:extLst xmlns:a="http://schemas.openxmlformats.org/drawingml/2006/main">
              <a:ext uri="{FF2B5EF4-FFF2-40B4-BE49-F238E27FC236}">
                <a16:creationId xmlns:a16="http://schemas.microsoft.com/office/drawing/2014/main" id="{2370C234-768A-4DEB-BF52-3AD04ACE7D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ee46b348e5049f5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" name="Google Shape;101;p19">
            <a:extLst xmlns:a="http://schemas.openxmlformats.org/drawingml/2006/main">
              <a:ext uri="{FF2B5EF4-FFF2-40B4-BE49-F238E27FC236}">
                <a16:creationId xmlns:a16="http://schemas.microsoft.com/office/drawing/2014/main" id="{8F98A2C2-A06D-40F7-8A78-3603897BEE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82e185b6ba4bd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2" name="Google Shape;102;p19">
            <a:extLst xmlns:a="http://schemas.openxmlformats.org/drawingml/2006/main">
              <a:ext uri="{FF2B5EF4-FFF2-40B4-BE49-F238E27FC236}">
                <a16:creationId xmlns:a16="http://schemas.microsoft.com/office/drawing/2014/main" id="{2B8C635D-A030-4D70-B11D-6F2430CF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Interface and narrow-screen review">
            <a:extLst xmlns:a="http://schemas.openxmlformats.org/drawingml/2006/main">
              <a:ext uri="{FF2B5EF4-FFF2-40B4-BE49-F238E27FC236}">
                <a16:creationId xmlns:a16="http://schemas.microsoft.com/office/drawing/2014/main" id="{C831ED88-3F3D-4A91-8B03-F222E621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610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Interface and narrow-screen review</a:t>
            </a:r>
          </a:p>
        </p:txBody>
      </p:sp>
      <p:sp>
        <p:nvSpPr>
          <p:cNvPr id="104" name="OpsCrew  /  Cloud evidence review  /  6">
            <a:extLst xmlns:a="http://schemas.openxmlformats.org/drawingml/2006/main">
              <a:ext uri="{FF2B5EF4-FFF2-40B4-BE49-F238E27FC236}">
                <a16:creationId xmlns:a16="http://schemas.microsoft.com/office/drawing/2014/main" id="{DEC8131C-1EAA-4E4C-8F01-F322D6E0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OpsCrew  /  Cloud evidence review  /  6</a:t>
            </a:r>
          </a:p>
        </p:txBody>
      </p:sp>
      <p:pic>
        <p:nvPic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06DFAFD-FF1D-4120-8E00-B0DC493010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ea80e6882f450d"/>
          <a:stretch xmlns:a="http://schemas.openxmlformats.org/drawingml/2006/main"/>
        </p:blipFill>
        <p:spPr>
          <a:xfrm xmlns:a="http://schemas.openxmlformats.org/drawingml/2006/main">
            <a:off x="553048" y="1190625"/>
            <a:ext cx="1627579" cy="3524250"/>
          </a:xfrm>
          <a:prstGeom xmlns:a="http://schemas.openxmlformats.org/drawingml/2006/main" prst="rect">
            <a:avLst/>
          </a:prstGeom>
        </p:spPr>
      </p:pic>
      <p:sp>
        <p:nvSpPr>
          <p:cNvPr id="106" name="Observed local browser behavior">
            <a:extLst xmlns:a="http://schemas.openxmlformats.org/drawingml/2006/main">
              <a:ext uri="{FF2B5EF4-FFF2-40B4-BE49-F238E27FC236}">
                <a16:creationId xmlns:a16="http://schemas.microsoft.com/office/drawing/2014/main" id="{F0B8513E-AD1F-4812-B09A-A7052358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400175"/>
            <a:ext cx="6048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Observed local browser behavior</a:t>
            </a:r>
          </a:p>
        </p:txBody>
      </p:sp>
      <p:sp>
        <p:nvSpPr>
          <p:cNvPr id="107" name="Explicit confirmation remains separate from the AI">
            <a:extLst xmlns:a="http://schemas.openxmlformats.org/drawingml/2006/main">
              <a:ext uri="{FF2B5EF4-FFF2-40B4-BE49-F238E27FC236}">
                <a16:creationId xmlns:a16="http://schemas.microsoft.com/office/drawing/2014/main" id="{DF4E1CFB-9E81-4531-AF3B-4F246D39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981200"/>
            <a:ext cx="5953125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Explicit confirmation remains separate from the AI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Saved history survives a page reload with the same visitor identity.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The 390 px viewport had no horizontal overflow. Keyboard focus was visible.</a:t>
            </a:r>
          </a:p>
        </p:txBody>
      </p:sp>
      <p:sp>
        <p:nvSpPr>
          <p:cNvPr id="108" name="Historical screenshot: local emulators and injecte">
            <a:extLst xmlns:a="http://schemas.openxmlformats.org/drawingml/2006/main">
              <a:ext uri="{FF2B5EF4-FFF2-40B4-BE49-F238E27FC236}">
                <a16:creationId xmlns:a16="http://schemas.microsoft.com/office/drawing/2014/main" id="{E27EF57F-8067-4129-BAAB-D0BE8DDA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229100"/>
            <a:ext cx="595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275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Historical screenshot: local emulators and injected model output, 10 October. The cloud API evidence on pages 10-11 is separate.</a:t>
            </a:r>
          </a:p>
        </p:txBody>
      </p:sp>
    </p:spTree>
    <p:extLst>
      <p:ext uri="{BB962C8B-B14F-4D97-AF65-F5344CB8AC3E}">
        <p14:creationId xmlns:p14="http://schemas.microsoft.com/office/powerpoint/2010/main" val="97622901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30968372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6" name="Google Shape;116;p21">
            <a:extLst xmlns:a="http://schemas.openxmlformats.org/drawingml/2006/main">
              <a:ext uri="{FF2B5EF4-FFF2-40B4-BE49-F238E27FC236}">
                <a16:creationId xmlns:a16="http://schemas.microsoft.com/office/drawing/2014/main" id="{4A7B7C26-7DC7-49A8-8304-FE04EB7C90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a5f464b55a04964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7" name="Google Shape;117;p21">
            <a:extLst xmlns:a="http://schemas.openxmlformats.org/drawingml/2006/main">
              <a:ext uri="{FF2B5EF4-FFF2-40B4-BE49-F238E27FC236}">
                <a16:creationId xmlns:a16="http://schemas.microsoft.com/office/drawing/2014/main" id="{A3F8412B-E6BF-4309-9564-68197251ED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1c7e602b454b4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8" name="Google Shape;118;p21">
            <a:extLst xmlns:a="http://schemas.openxmlformats.org/drawingml/2006/main">
              <a:ext uri="{FF2B5EF4-FFF2-40B4-BE49-F238E27FC236}">
                <a16:creationId xmlns:a16="http://schemas.microsoft.com/office/drawing/2014/main" id="{40107D6E-90B2-43B2-835C-290D3C93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Technologies used in the solution">
            <a:extLst xmlns:a="http://schemas.openxmlformats.org/drawingml/2006/main">
              <a:ext uri="{FF2B5EF4-FFF2-40B4-BE49-F238E27FC236}">
                <a16:creationId xmlns:a16="http://schemas.microsoft.com/office/drawing/2014/main" id="{EF4A01F4-B36D-423C-84AB-F55E706C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610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Technologies used in the solution</a:t>
            </a:r>
          </a:p>
        </p:txBody>
      </p:sp>
      <p:sp>
        <p:nvSpPr>
          <p:cNvPr id="120" name="OpsCrew  /  Cloud evidence review  /  8">
            <a:extLst xmlns:a="http://schemas.openxmlformats.org/drawingml/2006/main">
              <a:ext uri="{FF2B5EF4-FFF2-40B4-BE49-F238E27FC236}">
                <a16:creationId xmlns:a16="http://schemas.microsoft.com/office/drawing/2014/main" id="{0DB332CC-C761-4E75-B20E-92B55A68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OpsCrew  /  Cloud evidence review  /  8</a:t>
            </a:r>
          </a:p>
        </p:txBody>
      </p:sp>
      <p:graphicFrame>
        <p:nvGraphicFrame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8F089D8-D254-4AD4-99F8-D67A91CDB851}"/>
              </a:ext>
            </a:extLst>
          </p:cNvPr>
          <p:cNvGraphicFramePr/>
          <p:nvPr/>
        </p:nvGraphicFramePr>
        <p:xfrm>
          <a:off xmlns:a="http://schemas.openxmlformats.org/drawingml/2006/main" x="342900" y="1314450"/>
          <a:ext xmlns:a="http://schemas.openxmlformats.org/drawingml/2006/main" cx="8458200" cy="2981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5410200"/>
              </a:tblGrid>
              <a:tr h="496888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Component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3DDE2"/>
                      </a:solidFill>
                      <a:prstDash val="solid"/>
                    </a:lnL>
                    <a:lnR w="9525">
                      <a:solidFill>
                        <a:srgbClr val="D3DDE2"/>
                      </a:solidFill>
                      <a:prstDash val="solid"/>
                    </a:lnR>
                    <a:lnT w="9525">
                      <a:solidFill>
                        <a:srgbClr val="D3DDE2"/>
                      </a:solidFill>
                      <a:prstDash val="solid"/>
                    </a:lnT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Role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T w="9525">
                      <a:solidFill>
                        <a:srgbClr val="D3DDE2"/>
                      </a:solidFill>
                      <a:prstDash val="solid"/>
                    </a:lnT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496888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Google AI Studio Build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3DDE2"/>
                      </a:solidFill>
                      <a:prstDash val="solid"/>
                    </a:lnL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Fresh application origin on 7 October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888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Gemini 3.1 Flash-Lite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3DDE2"/>
                      </a:solidFill>
                      <a:prstDash val="solid"/>
                    </a:lnL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Facts, separately prompted Planner and Reviewer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888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Node 24 / React / TypeScript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3DDE2"/>
                      </a:solidFill>
                      <a:prstDash val="solid"/>
                    </a:lnL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API, explicit review interface and fixed validators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888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Firebase Auth + Firestore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3DDE2"/>
                      </a:solidFill>
                      <a:prstDash val="solid"/>
                    </a:lnL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Visitor ownership, atomic records and shared quotas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888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Cloud Run + Secret Manager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3DDE2"/>
                      </a:solidFill>
                      <a:prstDash val="solid"/>
                    </a:lnL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Cloud API runtime and server-only credential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2" name="Created from zero in AI Studio Build. The teammate">
            <a:extLst xmlns:a="http://schemas.openxmlformats.org/drawingml/2006/main">
              <a:ext uri="{FF2B5EF4-FFF2-40B4-BE49-F238E27FC236}">
                <a16:creationId xmlns:a16="http://schemas.microsoft.com/office/drawing/2014/main" id="{58762B11-26C7-4B30-ADFF-36C72FE0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381500"/>
            <a:ext cx="8458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35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Created from zero in AI Studio Build. The teammate used Antigravity to assist Cloud deployment (owner-reported).</a:t>
            </a:r>
          </a:p>
        </p:txBody>
      </p:sp>
    </p:spTree>
    <p:extLst>
      <p:ext uri="{BB962C8B-B14F-4D97-AF65-F5344CB8AC3E}">
        <p14:creationId xmlns:p14="http://schemas.microsoft.com/office/powerpoint/2010/main" val="64521756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4" name="Google Shape;124;p22">
            <a:extLst xmlns:a="http://schemas.openxmlformats.org/drawingml/2006/main">
              <a:ext uri="{FF2B5EF4-FFF2-40B4-BE49-F238E27FC236}">
                <a16:creationId xmlns:a16="http://schemas.microsoft.com/office/drawing/2014/main" id="{712005BC-3CD1-4F8F-BFC8-B9BED3AE23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c22642420f84845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25" name="Google Shape;125;p22">
            <a:extLst xmlns:a="http://schemas.openxmlformats.org/drawingml/2006/main">
              <a:ext uri="{FF2B5EF4-FFF2-40B4-BE49-F238E27FC236}">
                <a16:creationId xmlns:a16="http://schemas.microsoft.com/office/drawing/2014/main" id="{255F0D51-B39D-41EE-8463-BACC946147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cfdc459bc94f9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6" name="Google Shape;126;p22">
            <a:extLst xmlns:a="http://schemas.openxmlformats.org/drawingml/2006/main">
              <a:ext uri="{FF2B5EF4-FFF2-40B4-BE49-F238E27FC236}">
                <a16:creationId xmlns:a16="http://schemas.microsoft.com/office/drawing/2014/main" id="{88F5E14C-8E73-43AF-A50A-EA4B0E8C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Implementation cost and traffic controls">
            <a:extLst xmlns:a="http://schemas.openxmlformats.org/drawingml/2006/main">
              <a:ext uri="{FF2B5EF4-FFF2-40B4-BE49-F238E27FC236}">
                <a16:creationId xmlns:a16="http://schemas.microsoft.com/office/drawing/2014/main" id="{45E64B23-5D69-4C69-A957-7BE39189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610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Implementation cost and traffic controls</a:t>
            </a:r>
          </a:p>
        </p:txBody>
      </p:sp>
      <p:sp>
        <p:nvSpPr>
          <p:cNvPr id="128" name="OpsCrew  /  Cloud evidence review  /  9">
            <a:extLst xmlns:a="http://schemas.openxmlformats.org/drawingml/2006/main">
              <a:ext uri="{FF2B5EF4-FFF2-40B4-BE49-F238E27FC236}">
                <a16:creationId xmlns:a16="http://schemas.microsoft.com/office/drawing/2014/main" id="{FBB9BAEC-E2E3-4259-BF9D-51B3B6D7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OpsCrew  /  Cloud evidence review  /  9</a:t>
            </a:r>
          </a:p>
        </p:txBody>
      </p:sp>
      <p:sp>
        <p:nvSpPr>
          <p:cNvPr id="129" name="Team management target: USD 40. Billing alerts and">
            <a:extLst xmlns:a="http://schemas.openxmlformats.org/drawingml/2006/main">
              <a:ext uri="{FF2B5EF4-FFF2-40B4-BE49-F238E27FC236}">
                <a16:creationId xmlns:a16="http://schemas.microsoft.com/office/drawing/2014/main" id="{7AFD3144-9AE6-47CB-88AD-71C4B9D1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38250"/>
            <a:ext cx="8458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Team management target: USD 40. Billing alerts and application quotas cannot guarantee a monetary spending cap.</a:t>
            </a:r>
          </a:p>
        </p:txBody>
      </p:sp>
      <p:sp>
        <p:nvSpPr>
          <p:cNvPr id="130" name="Default model limits: 2 concurrent runs globally, ">
            <a:extLst xmlns:a="http://schemas.openxmlformats.org/drawingml/2006/main">
              <a:ext uri="{FF2B5EF4-FFF2-40B4-BE49-F238E27FC236}">
                <a16:creationId xmlns:a16="http://schemas.microsoft.com/office/drawing/2014/main" id="{5B6A62B6-3DBE-482B-B1F9-789537E1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076450"/>
            <a:ext cx="8458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Default model limits: 2 concurrent runs globally, 1 per visitor. Each visitor has 2 runs per minute and 12 per UTC day.</a:t>
            </a:r>
          </a:p>
        </p:txBody>
      </p:sp>
      <p:sp>
        <p:nvSpPr>
          <p:cNvPr id="131" name="Global limits: 6 runs per minute and 60 per UTC da">
            <a:extLst xmlns:a="http://schemas.openxmlformats.org/drawingml/2006/main">
              <a:ext uri="{FF2B5EF4-FFF2-40B4-BE49-F238E27FC236}">
                <a16:creationId xmlns:a16="http://schemas.microsoft.com/office/drawing/2014/main" id="{DA556C3D-5C4C-4DDE-BC08-8B751B80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914650"/>
            <a:ext cx="8458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Global limits: 6 runs per minute and 60 per UTC day. Each workflow reserves up to 6 provider attempts. Unknown usage receives no refund.</a:t>
            </a:r>
          </a:p>
        </p:txBody>
      </p:sp>
      <p:sp>
        <p:nvSpPr>
          <p:cNvPr id="132" name="13 October observations: 10 provider attempts and ">
            <a:extLst xmlns:a="http://schemas.openxmlformats.org/drawingml/2006/main">
              <a:ext uri="{FF2B5EF4-FFF2-40B4-BE49-F238E27FC236}">
                <a16:creationId xmlns:a16="http://schemas.microsoft.com/office/drawing/2014/main" id="{E4AB3C3A-F505-4B28-8C55-ECEE1B87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752850"/>
            <a:ext cx="8458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13 October observations: 10 provider attempts and 11,680 known tokens. One first FACTS call returned 503. Its usage and actual billed cost are unknown.</a:t>
            </a:r>
          </a:p>
        </p:txBody>
      </p:sp>
    </p:spTree>
    <p:extLst>
      <p:ext uri="{BB962C8B-B14F-4D97-AF65-F5344CB8AC3E}">
        <p14:creationId xmlns:p14="http://schemas.microsoft.com/office/powerpoint/2010/main" val="106411189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2" name="Google Shape;132;p23">
            <a:extLst xmlns:a="http://schemas.openxmlformats.org/drawingml/2006/main">
              <a:ext uri="{FF2B5EF4-FFF2-40B4-BE49-F238E27FC236}">
                <a16:creationId xmlns:a16="http://schemas.microsoft.com/office/drawing/2014/main" id="{9C39B541-CED4-4CC7-81AF-D106DE1070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e09428d64694200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3" name="Google Shape;133;p23">
            <a:extLst xmlns:a="http://schemas.openxmlformats.org/drawingml/2006/main">
              <a:ext uri="{FF2B5EF4-FFF2-40B4-BE49-F238E27FC236}">
                <a16:creationId xmlns:a16="http://schemas.microsoft.com/office/drawing/2014/main" id="{B7B3E563-5C3C-4DF8-8073-576C4C3B9E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87de5591ef477a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4" name="Google Shape;134;p23">
            <a:extLst xmlns:a="http://schemas.openxmlformats.org/drawingml/2006/main">
              <a:ext uri="{FF2B5EF4-FFF2-40B4-BE49-F238E27FC236}">
                <a16:creationId xmlns:a16="http://schemas.microsoft.com/office/drawing/2014/main" id="{6317BC5A-E403-4A0D-9D9B-EF2C87F9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Prototype: recorded cloud API results">
            <a:extLst xmlns:a="http://schemas.openxmlformats.org/drawingml/2006/main">
              <a:ext uri="{FF2B5EF4-FFF2-40B4-BE49-F238E27FC236}">
                <a16:creationId xmlns:a16="http://schemas.microsoft.com/office/drawing/2014/main" id="{EBF2B0D1-B495-4F33-8D2C-3246A61D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610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Prototype: recorded cloud API results</a:t>
            </a:r>
          </a:p>
        </p:txBody>
      </p:sp>
      <p:sp>
        <p:nvSpPr>
          <p:cNvPr id="136" name="OpsCrew  /  Cloud evidence review  /  10">
            <a:extLst xmlns:a="http://schemas.openxmlformats.org/drawingml/2006/main">
              <a:ext uri="{FF2B5EF4-FFF2-40B4-BE49-F238E27FC236}">
                <a16:creationId xmlns:a16="http://schemas.microsoft.com/office/drawing/2014/main" id="{8471B946-3ACB-4EC7-804E-B2E81CC5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OpsCrew  /  Cloud evidence review  /  10</a:t>
            </a:r>
          </a:p>
        </p:txBody>
      </p:sp>
      <p:graphicFrame>
        <p:nvGraphicFrame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86673255-5BC4-440E-B976-E286D244DE16}"/>
              </a:ext>
            </a:extLst>
          </p:cNvPr>
          <p:cNvGraphicFramePr/>
          <p:nvPr/>
        </p:nvGraphicFramePr>
        <p:xfrm>
          <a:off xmlns:a="http://schemas.openxmlformats.org/drawingml/2006/main" x="342900" y="1314450"/>
          <a:ext xmlns:a="http://schemas.openxmlformats.org/drawingml/2006/main" cx="8458200" cy="2905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314950"/>
              </a:tblGrid>
              <a:tr h="5810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Synthetic input / check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3DDE2"/>
                      </a:solidFill>
                      <a:prstDash val="solid"/>
                    </a:lnL>
                    <a:lnR w="9525">
                      <a:solidFill>
                        <a:srgbClr val="D3DDE2"/>
                      </a:solidFill>
                      <a:prstDash val="solid"/>
                    </a:lnR>
                    <a:lnT w="9525">
                      <a:solidFill>
                        <a:srgbClr val="D3DDE2"/>
                      </a:solidFill>
                      <a:prstDash val="solid"/>
                    </a:lnT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Observed cloud result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T w="9525">
                      <a:solidFill>
                        <a:srgbClr val="D3DDE2"/>
                      </a:solidFill>
                      <a:prstDash val="solid"/>
                    </a:lnT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USD 38, missing receipt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3DDE2"/>
                      </a:solidFill>
                      <a:prstDash val="solid"/>
                    </a:lnL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EVIDENCE_REQUEST plan. Explicit confirmation saved one case; independent readback matched.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DEV-01, receipt available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3DDE2"/>
                      </a:solidFill>
                      <a:prstDash val="solid"/>
                    </a:lnL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NO_ACTION_REQUIRED. No exception case.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DEV-10, USD 38 form / USD 50 text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3DDE2"/>
                      </a:solidFill>
                      <a:prstDash val="solid"/>
                    </a:lnL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BLOCKED. Conflicting sources prevent case creation.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Replay / different visitor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3DDE2"/>
                      </a:solidFill>
                      <a:prstDash val="solid"/>
                    </a:lnL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Same committed case / 404 for the other visitor.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8" name="Recorded HTTP response evidence, 13 October 2026. ">
            <a:extLst xmlns:a="http://schemas.openxmlformats.org/drawingml/2006/main">
              <a:ext uri="{FF2B5EF4-FFF2-40B4-BE49-F238E27FC236}">
                <a16:creationId xmlns:a16="http://schemas.microsoft.com/office/drawing/2014/main" id="{7D6F671A-CD7F-402A-ADA5-7800F157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400550"/>
            <a:ext cx="8458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35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Recorded HTTP response evidence, 13 October 2026. Synthetic handling records only. No reimbursement approval or payment occurs.</a:t>
            </a:r>
          </a:p>
        </p:txBody>
      </p:sp>
    </p:spTree>
    <p:extLst>
      <p:ext uri="{BB962C8B-B14F-4D97-AF65-F5344CB8AC3E}">
        <p14:creationId xmlns:p14="http://schemas.microsoft.com/office/powerpoint/2010/main" val="139793576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0" name="Google Shape;140;p24">
            <a:extLst xmlns:a="http://schemas.openxmlformats.org/drawingml/2006/main">
              <a:ext uri="{FF2B5EF4-FFF2-40B4-BE49-F238E27FC236}">
                <a16:creationId xmlns:a16="http://schemas.microsoft.com/office/drawing/2014/main" id="{4B938E4A-D003-4110-BAF1-B81C3760D0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4e4dc682f274775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1" name="Google Shape;141;p24">
            <a:extLst xmlns:a="http://schemas.openxmlformats.org/drawingml/2006/main">
              <a:ext uri="{FF2B5EF4-FFF2-40B4-BE49-F238E27FC236}">
                <a16:creationId xmlns:a16="http://schemas.microsoft.com/office/drawing/2014/main" id="{34BB6D4D-540A-4EA6-A952-756BEF4377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cb038307b143c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2" name="Google Shape;142;p24">
            <a:extLst xmlns:a="http://schemas.openxmlformats.org/drawingml/2006/main">
              <a:ext uri="{FF2B5EF4-FFF2-40B4-BE49-F238E27FC236}">
                <a16:creationId xmlns:a16="http://schemas.microsoft.com/office/drawing/2014/main" id="{8FA44899-2F6E-4915-9393-0D66AE68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Performance report and evidence boundaries">
            <a:extLst xmlns:a="http://schemas.openxmlformats.org/drawingml/2006/main">
              <a:ext uri="{FF2B5EF4-FFF2-40B4-BE49-F238E27FC236}">
                <a16:creationId xmlns:a16="http://schemas.microsoft.com/office/drawing/2014/main" id="{7465CDC0-37D9-472C-B53B-67B5EE64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610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Performance report and evidence boundaries</a:t>
            </a:r>
          </a:p>
        </p:txBody>
      </p:sp>
      <p:sp>
        <p:nvSpPr>
          <p:cNvPr id="144" name="OpsCrew  /  Cloud evidence review  /  11">
            <a:extLst xmlns:a="http://schemas.openxmlformats.org/drawingml/2006/main">
              <a:ext uri="{FF2B5EF4-FFF2-40B4-BE49-F238E27FC236}">
                <a16:creationId xmlns:a16="http://schemas.microsoft.com/office/drawing/2014/main" id="{3F32AA07-AF1C-4783-9148-D9297B07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OpsCrew  /  Cloud evidence review  /  11</a:t>
            </a:r>
          </a:p>
        </p:txBody>
      </p:sp>
      <p:graphicFrame>
        <p:nvGraphicFrame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BDBFE3D3-3014-455B-8315-E4C6A2BF51C8}"/>
              </a:ext>
            </a:extLst>
          </p:cNvPr>
          <p:cNvGraphicFramePr/>
          <p:nvPr/>
        </p:nvGraphicFramePr>
        <p:xfrm>
          <a:off xmlns:a="http://schemas.openxmlformats.org/drawingml/2006/main" x="342900" y="1314450"/>
          <a:ext xmlns:a="http://schemas.openxmlformats.org/drawingml/2006/main" cx="8458200" cy="2876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1504950"/>
                <a:gridCol w="4429125"/>
              </a:tblGrid>
              <a:tr h="479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Evidence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3DDE2"/>
                      </a:solidFill>
                      <a:prstDash val="solid"/>
                    </a:lnL>
                    <a:lnR w="9525">
                      <a:solidFill>
                        <a:srgbClr val="D3DDE2"/>
                      </a:solidFill>
                      <a:prstDash val="solid"/>
                    </a:lnR>
                    <a:lnT w="9525">
                      <a:solidFill>
                        <a:srgbClr val="D3DDE2"/>
                      </a:solidFill>
                      <a:prstDash val="solid"/>
                    </a:lnT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Result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T w="9525">
                      <a:solidFill>
                        <a:srgbClr val="D3DDE2"/>
                      </a:solidFill>
                      <a:prstDash val="solid"/>
                    </a:lnT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Method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T w="9525">
                      <a:solidFill>
                        <a:srgbClr val="D3DDE2"/>
                      </a:solidFill>
                      <a:prstDash val="solid"/>
                    </a:lnT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4794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Cloud core API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3DDE2"/>
                      </a:solidFill>
                      <a:prstDash val="solid"/>
                    </a:lnL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11 / 11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Real Auth, Gemini, Firestore; 13 Oct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94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Cloud safety API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3DDE2"/>
                      </a:solidFill>
                      <a:prstDash val="solid"/>
                    </a:lnL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14 / 14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Includes core verifier; overlapping checks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94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Real Gemini workflows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3DDE2"/>
                      </a:solidFill>
                      <a:prstDash val="solid"/>
                    </a:lnL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3 public cases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Missing receipt, no action, contradiction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94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Offline engineering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3DDE2"/>
                      </a:solidFill>
                      <a:prstDash val="solid"/>
                    </a:lnL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232 / 232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2026-10-12 local regressions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94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Historical packaging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3DDE2"/>
                      </a:solidFill>
                      <a:prstDash val="solid"/>
                    </a:lnL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12 groups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Includes 9 HTTP checks; native runtime, 11 Oct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6" name="Three cloud workflow observations: 8.381-12.042 s.">
            <a:extLst xmlns:a="http://schemas.openxmlformats.org/drawingml/2006/main">
              <a:ext uri="{FF2B5EF4-FFF2-40B4-BE49-F238E27FC236}">
                <a16:creationId xmlns:a16="http://schemas.microsoft.com/office/drawing/2014/main" id="{8D6256B3-9D2D-48C4-9DA4-9EB9C8C8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343400"/>
            <a:ext cx="8458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275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Three cloud workflow observations: 8.381-12.042 s. The missing-receipt run recovered from one 503. These public cases establish neither an SLA nor independent held-out acceptance.</a:t>
            </a:r>
          </a:p>
        </p:txBody>
      </p:sp>
    </p:spTree>
    <p:extLst>
      <p:ext uri="{BB962C8B-B14F-4D97-AF65-F5344CB8AC3E}">
        <p14:creationId xmlns:p14="http://schemas.microsoft.com/office/powerpoint/2010/main" val="179510938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8" name="Google Shape;148;p25">
            <a:extLst xmlns:a="http://schemas.openxmlformats.org/drawingml/2006/main">
              <a:ext uri="{FF2B5EF4-FFF2-40B4-BE49-F238E27FC236}">
                <a16:creationId xmlns:a16="http://schemas.microsoft.com/office/drawing/2014/main" id="{34F3B72C-BFA8-4270-8E3E-E2405082AB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a1971ac422b4aa5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9" name="Google Shape;149;p25">
            <a:extLst xmlns:a="http://schemas.openxmlformats.org/drawingml/2006/main">
              <a:ext uri="{FF2B5EF4-FFF2-40B4-BE49-F238E27FC236}">
                <a16:creationId xmlns:a16="http://schemas.microsoft.com/office/drawing/2014/main" id="{DC1BB5F9-0E4C-4E01-932D-AD3689207A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4740d58ab24c4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0" name="Google Shape;150;p25">
            <a:extLst xmlns:a="http://schemas.openxmlformats.org/drawingml/2006/main">
              <a:ext uri="{FF2B5EF4-FFF2-40B4-BE49-F238E27FC236}">
                <a16:creationId xmlns:a16="http://schemas.microsoft.com/office/drawing/2014/main" id="{6110ED8D-48A6-4B8A-A83C-1F594940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Additional details and future development">
            <a:extLst xmlns:a="http://schemas.openxmlformats.org/drawingml/2006/main">
              <a:ext uri="{FF2B5EF4-FFF2-40B4-BE49-F238E27FC236}">
                <a16:creationId xmlns:a16="http://schemas.microsoft.com/office/drawing/2014/main" id="{ECE25E33-AF72-4964-A8DF-8CCA32D2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610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Additional details and future development</a:t>
            </a:r>
          </a:p>
        </p:txBody>
      </p:sp>
      <p:sp>
        <p:nvSpPr>
          <p:cNvPr id="152" name="OpsCrew  /  Cloud evidence review  /  12">
            <a:extLst xmlns:a="http://schemas.openxmlformats.org/drawingml/2006/main">
              <a:ext uri="{FF2B5EF4-FFF2-40B4-BE49-F238E27FC236}">
                <a16:creationId xmlns:a16="http://schemas.microsoft.com/office/drawing/2014/main" id="{BAFD1466-D9DF-48F1-93F2-9FCF7BCD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OpsCrew  /  Cloud evidence review  /  12</a:t>
            </a:r>
          </a:p>
        </p:txBody>
      </p:sp>
      <p:sp>
        <p:nvSpPr>
          <p:cNvPr id="153" name="Observed cloud APIs complete plan, explicit confir">
            <a:extLst xmlns:a="http://schemas.openxmlformats.org/drawingml/2006/main">
              <a:ext uri="{FF2B5EF4-FFF2-40B4-BE49-F238E27FC236}">
                <a16:creationId xmlns:a16="http://schemas.microsoft.com/office/drawing/2014/main" id="{0518A209-C1CC-45E6-B7FA-36B8BC08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57300"/>
            <a:ext cx="8458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Observed cloud APIs complete plan, explicit confirmation and independent record readback. Source-to-image identity and full operational controls still require verification.</a:t>
            </a:r>
          </a:p>
        </p:txBody>
      </p:sp>
      <p:sp>
        <p:nvSpPr>
          <p:cNvPr id="154" name="The teammate seals eight independent cases before ">
            <a:extLst xmlns:a="http://schemas.openxmlformats.org/drawingml/2006/main">
              <a:ext uri="{FF2B5EF4-FFF2-40B4-BE49-F238E27FC236}">
                <a16:creationId xmlns:a16="http://schemas.microsoft.com/office/drawing/2014/main" id="{1826E1D7-6E91-4AB5-8711-FFD93F8C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085975"/>
            <a:ext cx="8458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The teammate seals eight independent cases before first evaluation. Retain every attempt and run the main demo successfully three times in sequence.</a:t>
            </a:r>
          </a:p>
        </p:txBody>
      </p:sp>
      <p:sp>
        <p:nvSpPr>
          <p:cNvPr id="155" name="Record a genuine browser flow on the accepted rele">
            <a:extLst xmlns:a="http://schemas.openxmlformats.org/drawingml/2006/main">
              <a:ext uri="{FF2B5EF4-FFF2-40B4-BE49-F238E27FC236}">
                <a16:creationId xmlns:a16="http://schemas.microsoft.com/office/drawing/2014/main" id="{F6140088-760B-4933-95C0-F5DAB13E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914650"/>
            <a:ext cx="8458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Record a genuine browser flow on the accepted release. Verify the final sub-three-minute English video through signed-out playback, and complete the team's registration declarations.</a:t>
            </a:r>
          </a:p>
        </p:txBody>
      </p:sp>
      <p:sp>
        <p:nvSpPr>
          <p:cNvPr id="156" name="After evaluation, consider broader policies and st">
            <a:extLst xmlns:a="http://schemas.openxmlformats.org/drawingml/2006/main">
              <a:ext uri="{FF2B5EF4-FFF2-40B4-BE49-F238E27FC236}">
                <a16:creationId xmlns:a16="http://schemas.microsoft.com/office/drawing/2014/main" id="{818E6C01-E040-42E6-8C85-7051E94D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743325"/>
            <a:ext cx="8458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After evaluation, consider broader policies and staff timing studies. Production reimbursement integrations require a separate design and authorization.</a:t>
            </a:r>
          </a:p>
        </p:txBody>
      </p:sp>
    </p:spTree>
    <p:extLst>
      <p:ext uri="{BB962C8B-B14F-4D97-AF65-F5344CB8AC3E}">
        <p14:creationId xmlns:p14="http://schemas.microsoft.com/office/powerpoint/2010/main" val="141221244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6" name="Google Shape;156;p26">
            <a:extLst xmlns:a="http://schemas.openxmlformats.org/drawingml/2006/main">
              <a:ext uri="{FF2B5EF4-FFF2-40B4-BE49-F238E27FC236}">
                <a16:creationId xmlns:a16="http://schemas.microsoft.com/office/drawing/2014/main" id="{1B3D0C4E-D016-4699-8E58-AFE4A7D3A4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09ee7306fcd4234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7" name="Google Shape;157;p26">
            <a:extLst xmlns:a="http://schemas.openxmlformats.org/drawingml/2006/main">
              <a:ext uri="{FF2B5EF4-FFF2-40B4-BE49-F238E27FC236}">
                <a16:creationId xmlns:a16="http://schemas.microsoft.com/office/drawing/2014/main" id="{AE383982-F4E2-41CE-BB19-28B2C7A5ED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42471148af4db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8" name="Google Shape;158;p26">
            <a:extLst xmlns:a="http://schemas.openxmlformats.org/drawingml/2006/main">
              <a:ext uri="{FF2B5EF4-FFF2-40B4-BE49-F238E27FC236}">
                <a16:creationId xmlns:a16="http://schemas.microsoft.com/office/drawing/2014/main" id="{1A5D1EF8-AEB6-4A33-86C2-D20D3521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Repository, demo and final product links">
            <a:extLst xmlns:a="http://schemas.openxmlformats.org/drawingml/2006/main">
              <a:ext uri="{FF2B5EF4-FFF2-40B4-BE49-F238E27FC236}">
                <a16:creationId xmlns:a16="http://schemas.microsoft.com/office/drawing/2014/main" id="{0A45B897-4CB6-45B6-A8AF-5CD13FB0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610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Repository, demo and final product links</a:t>
            </a:r>
          </a:p>
        </p:txBody>
      </p:sp>
      <p:sp>
        <p:nvSpPr>
          <p:cNvPr id="160" name="OpsCrew  /  Cloud evidence review  /  13">
            <a:extLst xmlns:a="http://schemas.openxmlformats.org/drawingml/2006/main">
              <a:ext uri="{FF2B5EF4-FFF2-40B4-BE49-F238E27FC236}">
                <a16:creationId xmlns:a16="http://schemas.microsoft.com/office/drawing/2014/main" id="{446E0443-B99F-42E3-A366-6FDCE132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OpsCrew  /  Cloud evidence review  /  13</a:t>
            </a:r>
          </a:p>
        </p:txBody>
      </p:sp>
      <p:sp>
        <p:nvSpPr>
          <p:cNvPr id="161" name="Public GitHub repository">
            <a:extLst xmlns:a="http://schemas.openxmlformats.org/drawingml/2006/main">
              <a:ext uri="{FF2B5EF4-FFF2-40B4-BE49-F238E27FC236}">
                <a16:creationId xmlns:a16="http://schemas.microsoft.com/office/drawing/2014/main" id="{3188B676-25E9-46D8-A391-05BD4815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95400"/>
            <a:ext cx="8458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1">
                <a:solidFill>
                  <a:srgbClr val="086A86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86A86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00" b="1">
                <a:solidFill>
                  <a:srgbClr val="086A86"/>
                </a:solidFill>
                <a:latin typeface="Google Sans Flex Medium"/>
                <a:ea typeface="Google Sans Flex Medium"/>
                <a:cs typeface="Google Sans Flex Medium"/>
                <a:hlinkClick xmlns:r="http://schemas.openxmlformats.org/officeDocument/2006/relationships" r:id="R2f0e449bd62d40d1"/>
              </a:rPr>
              <a:t>Public GitHub repository</a:t>
            </a:r>
          </a:p>
        </p:txBody>
      </p:sp>
      <p:sp>
        <p:nvSpPr>
          <p:cNvPr id="162" name="github.com/sundaylee3100-ljl/AI-Builder-Cup-2026-O">
            <a:extLst xmlns:a="http://schemas.openxmlformats.org/drawingml/2006/main">
              <a:ext uri="{FF2B5EF4-FFF2-40B4-BE49-F238E27FC236}">
                <a16:creationId xmlns:a16="http://schemas.microsoft.com/office/drawing/2014/main" id="{17EAE46C-7304-40DC-9F3D-3550D5E7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685925"/>
            <a:ext cx="845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35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github.com/sundaylee3100-ljl/AI-Builder-Cup-2026-OpsCrew</a:t>
            </a:r>
          </a:p>
        </p:txBody>
      </p:sp>
      <p:sp>
        <p:nvSpPr>
          <p:cNvPr id="163" name="Cloud product URL">
            <a:extLst xmlns:a="http://schemas.openxmlformats.org/drawingml/2006/main">
              <a:ext uri="{FF2B5EF4-FFF2-40B4-BE49-F238E27FC236}">
                <a16:creationId xmlns:a16="http://schemas.microsoft.com/office/drawing/2014/main" id="{3A8BEF89-3538-47A8-8FF9-19D77184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28850"/>
            <a:ext cx="8458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086A86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86A86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 b="1">
                <a:solidFill>
                  <a:srgbClr val="086A86"/>
                </a:solidFill>
                <a:latin typeface="Google Sans Flex Medium"/>
                <a:ea typeface="Google Sans Flex Medium"/>
                <a:cs typeface="Google Sans Flex Medium"/>
                <a:hlinkClick xmlns:r="http://schemas.openxmlformats.org/officeDocument/2006/relationships" r:id="Re20a4f6912fc4aa9"/>
              </a:rPr>
              <a:t>Cloud product URL</a:t>
            </a:r>
          </a:p>
        </p:txBody>
      </p:sp>
      <p:sp>
        <p:nvSpPr>
          <p:cNvPr id="164" name="https://opscrew-883881551915.us-central1.run.app">
            <a:extLst xmlns:a="http://schemas.openxmlformats.org/drawingml/2006/main">
              <a:ext uri="{FF2B5EF4-FFF2-40B4-BE49-F238E27FC236}">
                <a16:creationId xmlns:a16="http://schemas.microsoft.com/office/drawing/2014/main" id="{93433F06-3A38-4628-9CA4-549D9AC4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09850"/>
            <a:ext cx="845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35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https://opscrew-883881551915.us-central1.run.app</a:t>
            </a:r>
          </a:p>
        </p:txBody>
      </p:sp>
      <p:sp>
        <p:nvSpPr>
          <p:cNvPr id="165" name="Public demo video (footage acceptance pending)">
            <a:extLst xmlns:a="http://schemas.openxmlformats.org/drawingml/2006/main">
              <a:ext uri="{FF2B5EF4-FFF2-40B4-BE49-F238E27FC236}">
                <a16:creationId xmlns:a16="http://schemas.microsoft.com/office/drawing/2014/main" id="{8E52E59F-5D71-4B1C-908E-435ADBEB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09925"/>
            <a:ext cx="845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086A86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86A86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 b="1">
                <a:solidFill>
                  <a:srgbClr val="086A86"/>
                </a:solidFill>
                <a:latin typeface="Google Sans Flex Medium"/>
                <a:ea typeface="Google Sans Flex Medium"/>
                <a:cs typeface="Google Sans Flex Medium"/>
                <a:hlinkClick xmlns:r="http://schemas.openxmlformats.org/officeDocument/2006/relationships" r:id="R51ea23ed02e241b0"/>
              </a:rPr>
              <a:t>Public demo video (footage acceptance pending)</a:t>
            </a:r>
          </a:p>
        </p:txBody>
      </p:sp>
      <p:sp>
        <p:nvSpPr>
          <p:cNvPr id="166" name="https://youtu.be/h53-tucE7ig">
            <a:extLst xmlns:a="http://schemas.openxmlformats.org/drawingml/2006/main">
              <a:ext uri="{FF2B5EF4-FFF2-40B4-BE49-F238E27FC236}">
                <a16:creationId xmlns:a16="http://schemas.microsoft.com/office/drawing/2014/main" id="{65F5892F-B074-4F06-A49C-1D3133BE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600450"/>
            <a:ext cx="845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35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https://youtu.be/h53-tucE7ig</a:t>
            </a:r>
          </a:p>
        </p:txBody>
      </p:sp>
      <p:sp>
        <p:nvSpPr>
          <p:cNvPr id="167" name="Review version. Public links supplied. Final foota">
            <a:extLst xmlns:a="http://schemas.openxmlformats.org/drawingml/2006/main">
              <a:ext uri="{FF2B5EF4-FFF2-40B4-BE49-F238E27FC236}">
                <a16:creationId xmlns:a16="http://schemas.microsoft.com/office/drawing/2014/main" id="{83B34F2D-C265-4BFF-8C45-5140812B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219575"/>
            <a:ext cx="8458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42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Review version. Public links supplied. Final footage acceptance and accepted release identity remain pending. Recorded product API tests are dated 13 October.</a:t>
            </a:r>
          </a:p>
        </p:txBody>
      </p:sp>
    </p:spTree>
    <p:extLst>
      <p:ext uri="{BB962C8B-B14F-4D97-AF65-F5344CB8AC3E}">
        <p14:creationId xmlns:p14="http://schemas.microsoft.com/office/powerpoint/2010/main" val="1252415208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2026-10-14T07:09:54.2930000Z</dcterms:created>
  <dcterms:modified xsi:type="dcterms:W3CDTF">2026-10-14T07:09:54.2940000Z</dcterms:modified>
</coreProperties>
</file>