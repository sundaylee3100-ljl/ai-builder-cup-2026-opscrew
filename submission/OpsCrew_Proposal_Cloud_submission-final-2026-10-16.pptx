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099400fc0848ad" /><Relationship Type="http://schemas.openxmlformats.org/officeDocument/2006/relationships/extended-properties" Target="/docProps/app.xml" Id="Re5afa05a45704c39" /><Relationship Type="http://schemas.openxmlformats.org/officeDocument/2006/relationships/officeDocument" Target="/ppt/presentation.xml" Id="R5aa63b6d5b64413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c4660f776384e42"/>
  </p:sldMasterIdLst>
  <p:notesMasterIdLst>
    <p:notesMasterId xmlns:r="http://schemas.openxmlformats.org/officeDocument/2006/relationships" r:id="Rff5f6614a28b4aa0"/>
  </p:notesMasterIdLst>
  <p:sldIdLst>
    <p:sldId xmlns:r="http://schemas.openxmlformats.org/officeDocument/2006/relationships" id="256" r:id="Ref97875fa1e645ef"/>
    <p:sldId xmlns:r="http://schemas.openxmlformats.org/officeDocument/2006/relationships" id="257" r:id="Rfe88a8af70f646c1"/>
    <p:sldId xmlns:r="http://schemas.openxmlformats.org/officeDocument/2006/relationships" id="258" r:id="R6a7dfcd0dc314bd5"/>
    <p:sldId xmlns:r="http://schemas.openxmlformats.org/officeDocument/2006/relationships" id="259" r:id="R7af0e8dab834415d"/>
    <p:sldId xmlns:r="http://schemas.openxmlformats.org/officeDocument/2006/relationships" id="260" r:id="R2b030c4045064f86"/>
    <p:sldId xmlns:r="http://schemas.openxmlformats.org/officeDocument/2006/relationships" id="261" r:id="R590f9f65fe344da2"/>
    <p:sldId xmlns:r="http://schemas.openxmlformats.org/officeDocument/2006/relationships" id="262" r:id="R0927472585864c06"/>
    <p:sldId xmlns:r="http://schemas.openxmlformats.org/officeDocument/2006/relationships" id="263" r:id="R6c568d2ab9e74733"/>
    <p:sldId xmlns:r="http://schemas.openxmlformats.org/officeDocument/2006/relationships" id="264" r:id="Re143e93922404e9c"/>
    <p:sldId xmlns:r="http://schemas.openxmlformats.org/officeDocument/2006/relationships" id="265" r:id="R590af3e3361d406f"/>
    <p:sldId xmlns:r="http://schemas.openxmlformats.org/officeDocument/2006/relationships" id="266" r:id="R8f060d9863d34c99"/>
    <p:sldId xmlns:r="http://schemas.openxmlformats.org/officeDocument/2006/relationships" id="267" r:id="R1a86e9c543ec4dc9"/>
    <p:sldId xmlns:r="http://schemas.openxmlformats.org/officeDocument/2006/relationships" id="268" r:id="R115d179d307d4793"/>
  </p:sldIdLst>
  <p:sldSz cx="9144000" cy="5143500"/>
  <p:notesSz cx="6858000" cy="9144000"/>
  <p:embeddedFontLst>
    <p:embeddedFont>
      <p:font typeface="Google Sans Flex Medium"/>
      <p:regular xmlns:r="http://schemas.openxmlformats.org/officeDocument/2006/relationships" r:id="R9a4e1aeca1b84bbd"/>
      <p:bold xmlns:r="http://schemas.openxmlformats.org/officeDocument/2006/relationships" r:id="R21bf597434524268"/>
    </p:embeddedFont>
    <p:embeddedFont>
      <p:font typeface="Google Sans Flex"/>
      <p:regular xmlns:r="http://schemas.openxmlformats.org/officeDocument/2006/relationships" r:id="R202b8e670bb741d6"/>
      <p:bold xmlns:r="http://schemas.openxmlformats.org/officeDocument/2006/relationships" r:id="R2a20944441fe43b2"/>
    </p:embeddedFont>
    <p:embeddedFont>
      <p:font typeface="Google Sans Flex SemiBold"/>
      <p:regular xmlns:r="http://schemas.openxmlformats.org/officeDocument/2006/relationships" r:id="R3448a050a6ea44b2"/>
      <p:bold xmlns:r="http://schemas.openxmlformats.org/officeDocument/2006/relationships" r:id="R76514e9f07cf4dd1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dde8b6a506417b" /><Relationship Type="http://schemas.openxmlformats.org/officeDocument/2006/relationships/slideMaster" Target="/ppt/slideMasters/slideMaster1.xml" Id="R6c4660f776384e42" /><Relationship Type="http://schemas.openxmlformats.org/officeDocument/2006/relationships/notesMaster" Target="/ppt/notesMasters/notesMaster1.xml" Id="Rff5f6614a28b4aa0" /><Relationship Type="http://schemas.openxmlformats.org/officeDocument/2006/relationships/presProps" Target="/ppt/presProps.xml" Id="R8322a39554ee4b11" /><Relationship Type="http://schemas.openxmlformats.org/officeDocument/2006/relationships/viewProps" Target="/ppt/viewProps.xml" Id="R426704d965d8449f" /><Relationship Type="http://schemas.openxmlformats.org/officeDocument/2006/relationships/tableStyles" Target="/ppt/tableStyles.xml" Id="R063e20a44a404d01" /><Relationship Type="http://schemas.openxmlformats.org/officeDocument/2006/relationships/font" Target="/ppt/fonts/font.dat" Id="R9a4e1aeca1b84bbd" /><Relationship Type="http://schemas.openxmlformats.org/officeDocument/2006/relationships/font" Target="/ppt/fonts/font2.dat" Id="R21bf597434524268" /><Relationship Type="http://schemas.openxmlformats.org/officeDocument/2006/relationships/font" Target="/ppt/fonts/font3.dat" Id="R202b8e670bb741d6" /><Relationship Type="http://schemas.openxmlformats.org/officeDocument/2006/relationships/font" Target="/ppt/fonts/font4.dat" Id="R2a20944441fe43b2" /><Relationship Type="http://schemas.openxmlformats.org/officeDocument/2006/relationships/font" Target="/ppt/fonts/font5.dat" Id="R3448a050a6ea44b2" /><Relationship Type="http://schemas.openxmlformats.org/officeDocument/2006/relationships/font" Target="/ppt/fonts/font6.dat" Id="R76514e9f07cf4dd1" /><Relationship Type="http://schemas.openxmlformats.org/officeDocument/2006/relationships/slide" Target="/ppt/slides/slide1.xml" Id="Ref97875fa1e645ef" /><Relationship Type="http://schemas.openxmlformats.org/officeDocument/2006/relationships/slide" Target="/ppt/slides/slide2.xml" Id="Rfe88a8af70f646c1" /><Relationship Type="http://schemas.openxmlformats.org/officeDocument/2006/relationships/slide" Target="/ppt/slides/slide3.xml" Id="R6a7dfcd0dc314bd5" /><Relationship Type="http://schemas.openxmlformats.org/officeDocument/2006/relationships/slide" Target="/ppt/slides/slide4.xml" Id="R7af0e8dab834415d" /><Relationship Type="http://schemas.openxmlformats.org/officeDocument/2006/relationships/slide" Target="/ppt/slides/slide5.xml" Id="R2b030c4045064f86" /><Relationship Type="http://schemas.openxmlformats.org/officeDocument/2006/relationships/slide" Target="/ppt/slides/slide6.xml" Id="R590f9f65fe344da2" /><Relationship Type="http://schemas.openxmlformats.org/officeDocument/2006/relationships/slide" Target="/ppt/slides/slide7.xml" Id="R0927472585864c06" /><Relationship Type="http://schemas.openxmlformats.org/officeDocument/2006/relationships/slide" Target="/ppt/slides/slide8.xml" Id="R6c568d2ab9e74733" /><Relationship Type="http://schemas.openxmlformats.org/officeDocument/2006/relationships/slide" Target="/ppt/slides/slide9.xml" Id="Re143e93922404e9c" /><Relationship Type="http://schemas.openxmlformats.org/officeDocument/2006/relationships/slide" Target="/ppt/slides/slide10.xml" Id="R590af3e3361d406f" /><Relationship Type="http://schemas.openxmlformats.org/officeDocument/2006/relationships/slide" Target="/ppt/slides/slide11.xml" Id="R8f060d9863d34c99" /><Relationship Type="http://schemas.openxmlformats.org/officeDocument/2006/relationships/slide" Target="/ppt/slides/slide12.xml" Id="R1a86e9c543ec4dc9" /><Relationship Type="http://schemas.openxmlformats.org/officeDocument/2006/relationships/slide" Target="/ppt/slides/slide13.xml" Id="R115d179d307d47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fac93ab1af44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f7cffece2649fa" /><Relationship Type="http://schemas.openxmlformats.org/officeDocument/2006/relationships/notesMaster" Target="/ppt/notesMasters/notesMaster1.xml" Id="Rca9260f8104045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1e74fa9b274ff7" /><Relationship Type="http://schemas.openxmlformats.org/officeDocument/2006/relationships/notesMaster" Target="/ppt/notesMasters/notesMaster1.xml" Id="R33572253c3464b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8822729efd48fa" /><Relationship Type="http://schemas.openxmlformats.org/officeDocument/2006/relationships/notesMaster" Target="/ppt/notesMasters/notesMaster1.xml" Id="R55f7bb4ab3b949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edd57d28324d02" /><Relationship Type="http://schemas.openxmlformats.org/officeDocument/2006/relationships/notesMaster" Target="/ppt/notesMasters/notesMaster1.xml" Id="Rd572c88f325645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b241b3c5104fad" /><Relationship Type="http://schemas.openxmlformats.org/officeDocument/2006/relationships/notesMaster" Target="/ppt/notesMasters/notesMaster1.xml" Id="R2af6cf72076349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cbfe98a24a415a" /><Relationship Type="http://schemas.openxmlformats.org/officeDocument/2006/relationships/notesMaster" Target="/ppt/notesMasters/notesMaster1.xml" Id="R7d7b21badf854a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c7ab6170874d89" /><Relationship Type="http://schemas.openxmlformats.org/officeDocument/2006/relationships/notesMaster" Target="/ppt/notesMasters/notesMaster1.xml" Id="Rac211efb964e47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efb56fe3324b63" /><Relationship Type="http://schemas.openxmlformats.org/officeDocument/2006/relationships/notesMaster" Target="/ppt/notesMasters/notesMaster1.xml" Id="R81c7862f86a04b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e984e45154490e" /><Relationship Type="http://schemas.openxmlformats.org/officeDocument/2006/relationships/notesMaster" Target="/ppt/notesMasters/notesMaster1.xml" Id="R98c33a96519c44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57f2e8f8274226" /><Relationship Type="http://schemas.openxmlformats.org/officeDocument/2006/relationships/notesMaster" Target="/ppt/notesMasters/notesMaster1.xml" Id="Rca69faae1b254b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6d9056383a4706" /><Relationship Type="http://schemas.openxmlformats.org/officeDocument/2006/relationships/notesMaster" Target="/ppt/notesMasters/notesMaster1.xml" Id="Rd6e0fbc021f845d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66f0d2853e44517" /><Relationship Type="http://schemas.openxmlformats.org/officeDocument/2006/relationships/notesMaster" Target="/ppt/notesMasters/notesMaster1.xml" Id="Rd556c060d6c8455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723a1230de24525" /><Relationship Type="http://schemas.openxmlformats.org/officeDocument/2006/relationships/notesMaster" Target="/ppt/notesMasters/notesMaster1.xml" Id="R066de424f74940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Public captain name, when provided, comes from the owner. Eligibility and registration declarations remain the authorized team's responsibility.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https://aibuildercup.com/themes.html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Fresh Google AI Studio Build creation on 7 October. Logo supplied by owner as Gemini-generated. The owner reports that the teammate used Google Antigravity to assist Cloud deployment; this is tool attribution, not automated deployment-source attestation.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https://aibuildercup.com/themes.html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SCOPE.md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docs/POLICY_AND_CONTRACTS.md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SCOPE.md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docs/POLICY_AND_CONTRACTS.md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docs/EVALUATION_PROTOCOL.md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docs/acceptance/S03-confirmation-and-cases.md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docs/PRECLOUD_BACKEND.md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src/domain/workflow.ts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docs/S3_CONFIRMATION_CASES.md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docs/PRECLOUD_BACKEND.md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docs/acceptance/S03-confirmation-and-cases.md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docs/acceptance/FINAL-video-ui-plan-2026-10-16.png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docs/acceptance/FINAL-integrated-validation-2026-10-16.json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docs/acceptance/FINAL-cloud-readonly-2026-10-16.json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aistudio-export-2026-10-07/server/runtime-config.ts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aistudio-export-2026-10-07/server/planning-service.ts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PROVENANCE.md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docs/acceptance/FINAL-integrated-validation-2026-10-16.json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docs/acceptance/FINAL-cloud-readonly-2026-10-16.json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aistudio-export-2026-10-07/server/runtime-config.ts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docs/DELIVERY_WORKBOARD.md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docs/PRECLOUD_BACKEND.md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docs/EVALUATION_PROTOCOL.md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docs/acceptance/DELIVERY-cloud-G3-2026-10-13.json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docs/acceptance/DELIVERY-cloud-safety-and-fixtures-2026-10-13.json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docs/acceptance/FINAL-video-ui-savedcase-2026-10-16.png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docs/acceptance/FINAL-integrated-validation-2026-10-16.json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docs/acceptance/DELIVERY-cloud-G3-2026-10-13.json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docs/acceptance/DELIVERY-cloud-safety-and-fixtures-2026-10-13.json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docs/PRECLOUD_EVALUATION.md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docs/CLOUD_TEAMMATE_HANDOFF.md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docs/EVALUATION_PROTOCOL.md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SUBMISSION_CHECKLIST.md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https://github.com/sundaylee3100-ljl/AI-Builder-Cup-2026-OpsCrew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SUBMISSION_CHECKLIST.md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submission/RECORDING_PLAN.md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657b25268e4e6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34a9e10ae340c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df4a234285478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c9b089f9b54bd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6570fef9fc43f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3917b49e0343e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5c8ed2f2bf4d7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b4790f9fae404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2d9429009347b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f9d73e46f448b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ce09ecbc564c15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170C3159-56BE-48D5-91B9-8B77AE8F75E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74BD4B56-36C2-4D39-A619-73233290E80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0B60F244-624E-43BC-8BF8-A0E9EC03EF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0ED514A2-4183-4AB9-AD9B-6EC690FFB0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BCB32FA7-F6A7-4CE1-976D-8AE35EF7B6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709C565B-10A5-4B02-A899-82EAC64CAD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A26D2A69-A116-4EBE-85F3-4519BBAA80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C407089E-2645-44CC-8965-70134917BD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A5AF85BF-6852-4A40-B239-0B5268DF1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41C59F11-C41D-40C1-B343-1AAB505622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4745FD80-DAB7-4F46-BE13-DABC8FAF0FB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60393C14-F6ED-44E2-9B84-728506A99A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FF76C5F8-3289-4416-82C9-A739975C14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6485F830-39B3-494F-9775-2C0A602C9C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423D9535-F4C2-4804-9B73-C2BFF56107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B067BDAA-CFE0-4E26-8ED9-CF2432664E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4A5243F3-5B20-47C1-BA10-762B84F33D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1A210958-D170-4BE3-9A5E-DD93E69FDE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C2BB2AEA-3599-4E5A-87AD-DD96016A07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89A11FB1-FC68-4090-9043-D145BE4A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A8E45B13-2CEB-4E4D-BCE6-F07FD16D12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B467872F-6F73-4804-8704-CD343EBD043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CEC66BD5-6567-4817-BC3E-DA19058AD9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CC058C7F-91EA-453E-AA9A-B6DA14D926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E5FE696A-2960-44C9-8F82-38D388FC96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BB2DB181-8B08-4628-88A9-6F22D44465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E408AE94-832E-472E-9BF6-8B3B9518E8B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900D5C9E-2858-4771-A203-C44FB8EB60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8F2A39A5-1E36-4DC3-ABE3-96B9E7861F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D07971B5-5E73-4028-9057-A78D3D3095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405f5168e241d4" /><Relationship Type="http://schemas.openxmlformats.org/officeDocument/2006/relationships/slideLayout" Target="/ppt/slideLayouts/slideLayout1.xml" Id="Ra616477d9bf74b33" /><Relationship Type="http://schemas.openxmlformats.org/officeDocument/2006/relationships/slideLayout" Target="/ppt/slideLayouts/slideLayout2.xml" Id="Re9f956e3be8342ea" /><Relationship Type="http://schemas.openxmlformats.org/officeDocument/2006/relationships/slideLayout" Target="/ppt/slideLayouts/slideLayout3.xml" Id="Rf163987075e44afa" /><Relationship Type="http://schemas.openxmlformats.org/officeDocument/2006/relationships/slideLayout" Target="/ppt/slideLayouts/slideLayout4.xml" Id="Rfa1305e3eb284247" /><Relationship Type="http://schemas.openxmlformats.org/officeDocument/2006/relationships/slideLayout" Target="/ppt/slideLayouts/slideLayout5.xml" Id="R78f8a6cbb6eb4581" /><Relationship Type="http://schemas.openxmlformats.org/officeDocument/2006/relationships/slideLayout" Target="/ppt/slideLayouts/slideLayout6.xml" Id="Re4d44e6c79a94f89" /><Relationship Type="http://schemas.openxmlformats.org/officeDocument/2006/relationships/slideLayout" Target="/ppt/slideLayouts/slideLayout7.xml" Id="Rafc14a8e173842d8" /><Relationship Type="http://schemas.openxmlformats.org/officeDocument/2006/relationships/slideLayout" Target="/ppt/slideLayouts/slideLayout8.xml" Id="Rc5ffbe4a838d4ed1" /><Relationship Type="http://schemas.openxmlformats.org/officeDocument/2006/relationships/slideLayout" Target="/ppt/slideLayouts/slideLayout9.xml" Id="R127a2666a14b4552" /><Relationship Type="http://schemas.openxmlformats.org/officeDocument/2006/relationships/slideLayout" Target="/ppt/slideLayouts/slideLayout10.xml" Id="Rc30021fb48cb4a05" /><Relationship Type="http://schemas.openxmlformats.org/officeDocument/2006/relationships/slideLayout" Target="/ppt/slideLayouts/slideLayout11.xml" Id="R1f21e161e5c941a9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C5A87950-5EC4-4FBB-BA68-C894711CD8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B8942366-7D07-4A00-A321-EDA3A5F21A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9D80D53F-0CA5-4695-BCEE-50CE90709E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16477d9bf74b33"/>
    <p:sldLayoutId xmlns:r="http://schemas.openxmlformats.org/officeDocument/2006/relationships" id="2147483650" r:id="Re9f956e3be8342ea"/>
    <p:sldLayoutId xmlns:r="http://schemas.openxmlformats.org/officeDocument/2006/relationships" id="2147483651" r:id="Rf163987075e44afa"/>
    <p:sldLayoutId xmlns:r="http://schemas.openxmlformats.org/officeDocument/2006/relationships" id="2147483652" r:id="Rfa1305e3eb284247"/>
    <p:sldLayoutId xmlns:r="http://schemas.openxmlformats.org/officeDocument/2006/relationships" id="2147483653" r:id="R78f8a6cbb6eb4581"/>
    <p:sldLayoutId xmlns:r="http://schemas.openxmlformats.org/officeDocument/2006/relationships" id="2147483654" r:id="Re4d44e6c79a94f89"/>
    <p:sldLayoutId xmlns:r="http://schemas.openxmlformats.org/officeDocument/2006/relationships" id="2147483655" r:id="Rafc14a8e173842d8"/>
    <p:sldLayoutId xmlns:r="http://schemas.openxmlformats.org/officeDocument/2006/relationships" id="2147483656" r:id="Rc5ffbe4a838d4ed1"/>
    <p:sldLayoutId xmlns:r="http://schemas.openxmlformats.org/officeDocument/2006/relationships" id="2147483657" r:id="R127a2666a14b4552"/>
    <p:sldLayoutId xmlns:r="http://schemas.openxmlformats.org/officeDocument/2006/relationships" id="2147483658" r:id="Rc30021fb48cb4a05"/>
    <p:sldLayoutId xmlns:r="http://schemas.openxmlformats.org/officeDocument/2006/relationships" id="2147483659" r:id="R1f21e161e5c941a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02b0987b64d59" /><Relationship Type="http://schemas.openxmlformats.org/officeDocument/2006/relationships/image" Target="/ppt/media/image.png" Id="R89f68d031e63474b" /><Relationship Type="http://schemas.openxmlformats.org/officeDocument/2006/relationships/image" Target="/ppt/media/image2.png" Id="R4e835c71a5af4b01" /><Relationship Type="http://schemas.openxmlformats.org/officeDocument/2006/relationships/image" Target="/ppt/media/image3.png" Id="Ra60a6059615a4f03" /><Relationship Type="http://schemas.openxmlformats.org/officeDocument/2006/relationships/notesSlide" Target="/ppt/notesSlides/notesSlide1.xml" Id="R60f2da0ff1f24e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c784b353b4f26" /><Relationship Type="http://schemas.openxmlformats.org/officeDocument/2006/relationships/image" Target="/ppt/media/image4.png" Id="R8395c3f3ba46426e" /><Relationship Type="http://schemas.openxmlformats.org/officeDocument/2006/relationships/notesSlide" Target="/ppt/notesSlides/notesSlide2.xml" Id="R9bc2949f33c84d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fe53ef28241ef" /><Relationship Type="http://schemas.openxmlformats.org/officeDocument/2006/relationships/image" Target="/ppt/media/image2.png" Id="R96160b32dd1e44c1" /><Relationship Type="http://schemas.openxmlformats.org/officeDocument/2006/relationships/image" Target="/ppt/media/image4.png" Id="R282628e0e1234d7b" /><Relationship Type="http://schemas.openxmlformats.org/officeDocument/2006/relationships/notesSlide" Target="/ppt/notesSlides/notesSlide3.xml" Id="R6f551107a14849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11dcdb3f941ea" /><Relationship Type="http://schemas.openxmlformats.org/officeDocument/2006/relationships/image" Target="/ppt/media/image2.png" Id="R6fae7093efce49ec" /><Relationship Type="http://schemas.openxmlformats.org/officeDocument/2006/relationships/image" Target="/ppt/media/image4.png" Id="R7468e2c33afb4aee" /><Relationship Type="http://schemas.openxmlformats.org/officeDocument/2006/relationships/notesSlide" Target="/ppt/notesSlides/notesSlide4.xml" Id="Rba650fdb93cc45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1c06af3ff44a1" /><Relationship Type="http://schemas.openxmlformats.org/officeDocument/2006/relationships/image" Target="/ppt/media/image2.png" Id="Re3bd69392b304b13" /><Relationship Type="http://schemas.openxmlformats.org/officeDocument/2006/relationships/image" Target="/ppt/media/image4.png" Id="R9771ae16b95d4b4f" /><Relationship Type="http://schemas.openxmlformats.org/officeDocument/2006/relationships/notesSlide" Target="/ppt/notesSlides/notesSlide5.xml" Id="R076950ca50a249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4592dac634f1c" /><Relationship Type="http://schemas.openxmlformats.org/officeDocument/2006/relationships/image" Target="/ppt/media/image2.png" Id="R439f4d91b95a4e09" /><Relationship Type="http://schemas.openxmlformats.org/officeDocument/2006/relationships/image" Target="/ppt/media/image4.png" Id="R60ea26165ad948af" /><Relationship Type="http://schemas.openxmlformats.org/officeDocument/2006/relationships/image" Target="/ppt/media/image5.png" Id="R75602bc7b263498e" /><Relationship Type="http://schemas.openxmlformats.org/officeDocument/2006/relationships/notesSlide" Target="/ppt/notesSlides/notesSlide6.xml" Id="R75d2153858004c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7b02015234302" /><Relationship Type="http://schemas.openxmlformats.org/officeDocument/2006/relationships/image" Target="/ppt/media/image2.png" Id="Rb1d3d15db66e4b0d" /><Relationship Type="http://schemas.openxmlformats.org/officeDocument/2006/relationships/image" Target="/ppt/media/image4.png" Id="R1d9673c89bf148dc" /><Relationship Type="http://schemas.openxmlformats.org/officeDocument/2006/relationships/notesSlide" Target="/ppt/notesSlides/notesSlide7.xml" Id="R000d50f6d27447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eaad820f1490e" /><Relationship Type="http://schemas.openxmlformats.org/officeDocument/2006/relationships/image" Target="/ppt/media/image2.png" Id="R1e5c2895365940db" /><Relationship Type="http://schemas.openxmlformats.org/officeDocument/2006/relationships/image" Target="/ppt/media/image4.png" Id="R80aeaf07c8694fab" /><Relationship Type="http://schemas.openxmlformats.org/officeDocument/2006/relationships/notesSlide" Target="/ppt/notesSlides/notesSlide8.xml" Id="R4e77bcacbd3543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09c18bdd74f28" /><Relationship Type="http://schemas.openxmlformats.org/officeDocument/2006/relationships/image" Target="/ppt/media/image2.png" Id="Rc84abc039cb64dd0" /><Relationship Type="http://schemas.openxmlformats.org/officeDocument/2006/relationships/image" Target="/ppt/media/image4.png" Id="R4883d4896cb346c5" /><Relationship Type="http://schemas.openxmlformats.org/officeDocument/2006/relationships/notesSlide" Target="/ppt/notesSlides/notesSlide9.xml" Id="Rb8c790872e3c47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c34ad0f674cc5" /><Relationship Type="http://schemas.openxmlformats.org/officeDocument/2006/relationships/image" Target="/ppt/media/image2.png" Id="Ra32dd8e931be4088" /><Relationship Type="http://schemas.openxmlformats.org/officeDocument/2006/relationships/image" Target="/ppt/media/image4.png" Id="R928c43fe1a9a426d" /><Relationship Type="http://schemas.openxmlformats.org/officeDocument/2006/relationships/image" Target="/ppt/media/image6.png" Id="Reb3638181068448c" /><Relationship Type="http://schemas.openxmlformats.org/officeDocument/2006/relationships/notesSlide" Target="/ppt/notesSlides/notesSlide10.xml" Id="Rbf64403bc6e54e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1eb5b5d3d422a" /><Relationship Type="http://schemas.openxmlformats.org/officeDocument/2006/relationships/image" Target="/ppt/media/image2.png" Id="R4fce468abc884c1d" /><Relationship Type="http://schemas.openxmlformats.org/officeDocument/2006/relationships/image" Target="/ppt/media/image4.png" Id="R280b25e7ccab426c" /><Relationship Type="http://schemas.openxmlformats.org/officeDocument/2006/relationships/notesSlide" Target="/ppt/notesSlides/notesSlide11.xml" Id="Rca5c08a4e8434b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b166edcfd40eb" /><Relationship Type="http://schemas.openxmlformats.org/officeDocument/2006/relationships/image" Target="/ppt/media/image2.png" Id="R95c2872a0ad54151" /><Relationship Type="http://schemas.openxmlformats.org/officeDocument/2006/relationships/image" Target="/ppt/media/image4.png" Id="Ref099283b50644bd" /><Relationship Type="http://schemas.openxmlformats.org/officeDocument/2006/relationships/notesSlide" Target="/ppt/notesSlides/notesSlide12.xml" Id="R1019b47ca76e48d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e1c02d449479f" /><Relationship Type="http://schemas.openxmlformats.org/officeDocument/2006/relationships/image" Target="/ppt/media/image2.png" Id="Rc1b5ae6cbfd540c0" /><Relationship Type="http://schemas.openxmlformats.org/officeDocument/2006/relationships/image" Target="/ppt/media/image4.png" Id="R380e5ff14f3c4a1b" /><Relationship Type="http://schemas.openxmlformats.org/officeDocument/2006/relationships/hyperlink" Target="https://github.com/sundaylee3100-ljl/AI-Builder-Cup-2026-OpsCrew" TargetMode="External" Id="Rfeaa737b42a746c0" /><Relationship Type="http://schemas.openxmlformats.org/officeDocument/2006/relationships/hyperlink" Target="https://opscrew-883881551915.us-central1.run.app" TargetMode="External" Id="R462f9f86eef54aed" /><Relationship Type="http://schemas.openxmlformats.org/officeDocument/2006/relationships/hyperlink" Target="https://youtu.be/j94ffx_yrng" TargetMode="External" Id="Raae325f95cd745bc" /><Relationship Type="http://schemas.openxmlformats.org/officeDocument/2006/relationships/notesSlide" Target="/ppt/notesSlides/notesSlide13.xml" Id="Re955713bdc91476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BE53E0F3-EEDF-450C-BB13-AC8A75CD5B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68d031e63474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3"/>
            <a:ext cx="9144000" cy="27155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1684F77E-75A8-4552-8A2F-DC1274F18E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e835c71a5af4b01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" name="Team OpsCrew">
            <a:extLst xmlns:a="http://schemas.openxmlformats.org/drawingml/2006/main">
              <a:ext uri="{FF2B5EF4-FFF2-40B4-BE49-F238E27FC236}">
                <a16:creationId xmlns:a16="http://schemas.microsoft.com/office/drawing/2014/main" id="{C45C051C-E804-43BB-B07F-590075F7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886075"/>
            <a:ext cx="708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2400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Team OpsCrew</a:t>
            </a:r>
          </a:p>
        </p:txBody>
      </p:sp>
      <p:sp>
        <p:nvSpPr>
          <p:cNvPr id="58" name="Expense exception plans with human confirmation">
            <a:extLst xmlns:a="http://schemas.openxmlformats.org/drawingml/2006/main">
              <a:ext uri="{FF2B5EF4-FFF2-40B4-BE49-F238E27FC236}">
                <a16:creationId xmlns:a16="http://schemas.microsoft.com/office/drawing/2014/main" id="{91D6B8AF-D907-45C7-8A7E-E795010A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381375"/>
            <a:ext cx="7000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Expense exception plans with human confirmation</a:t>
            </a:r>
          </a:p>
        </p:txBody>
      </p:sp>
      <p:sp>
        <p:nvSpPr>
          <p:cNvPr id="59" name="Captain: Sunday Lee&#10;Theme: Future of Work &amp; Enterp">
            <a:extLst xmlns:a="http://schemas.openxmlformats.org/drawingml/2006/main">
              <a:ext uri="{FF2B5EF4-FFF2-40B4-BE49-F238E27FC236}">
                <a16:creationId xmlns:a16="http://schemas.microsoft.com/office/drawing/2014/main" id="{1AEF3BFF-AFAC-4173-AEFB-F874DAE4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076700"/>
            <a:ext cx="719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Captain: Sunday Lee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Theme: Future of Work &amp; Enterprise Productivity</a:t>
            </a:r>
          </a:p>
        </p:txBody>
      </p:sp>
      <p:sp>
        <p:nvSpPr>
          <p:cNvPr id="60" name="Competition proposal  /  16 October 2026">
            <a:extLst xmlns:a="http://schemas.openxmlformats.org/drawingml/2006/main">
              <a:ext uri="{FF2B5EF4-FFF2-40B4-BE49-F238E27FC236}">
                <a16:creationId xmlns:a16="http://schemas.microsoft.com/office/drawing/2014/main" id="{9F1B82B2-2474-4D11-95DB-0A510C2E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714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Competition proposal  /  16 October 2026</a:t>
            </a:r>
          </a:p>
        </p:txBody>
      </p:sp>
      <p:pic>
        <p:nvPic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0AE0044-DB97-458F-AABF-64434556FD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a6059615a4f03"/>
          <a:stretch xmlns:a="http://schemas.openxmlformats.org/drawingml/2006/main"/>
        </p:blipFill>
        <p:spPr>
          <a:xfrm xmlns:a="http://schemas.openxmlformats.org/drawingml/2006/main">
            <a:off x="7639050" y="3478054"/>
            <a:ext cx="1238250" cy="12258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4940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9" name="Google Shape;69;p15">
            <a:extLst xmlns:a="http://schemas.openxmlformats.org/drawingml/2006/main">
              <a:ext uri="{FF2B5EF4-FFF2-40B4-BE49-F238E27FC236}">
                <a16:creationId xmlns:a16="http://schemas.microsoft.com/office/drawing/2014/main" id="{B433CE64-4595-4D3D-BE7F-5409ED53E2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95c3f3ba46426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4EF0A504-339E-4CD5-BC04-1D92A0C6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Brief about the idea">
            <a:extLst xmlns:a="http://schemas.openxmlformats.org/drawingml/2006/main">
              <a:ext uri="{FF2B5EF4-FFF2-40B4-BE49-F238E27FC236}">
                <a16:creationId xmlns:a16="http://schemas.microsoft.com/office/drawing/2014/main" id="{D6BE9D2B-ADDB-49EF-8B4A-F5295442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Brief about the idea</a:t>
            </a:r>
          </a:p>
        </p:txBody>
      </p:sp>
      <p:sp>
        <p:nvSpPr>
          <p:cNvPr id="72" name="OpsCrew  /  Competition proposal  /  2">
            <a:extLst xmlns:a="http://schemas.openxmlformats.org/drawingml/2006/main">
              <a:ext uri="{FF2B5EF4-FFF2-40B4-BE49-F238E27FC236}">
                <a16:creationId xmlns:a16="http://schemas.microsoft.com/office/drawing/2014/main" id="{4211EADA-E0E0-42D6-A844-94F1152D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Competition proposal  /  2</a:t>
            </a:r>
          </a:p>
        </p:txBody>
      </p:sp>
      <p:sp>
        <p:nvSpPr>
          <p:cNvPr id="73" name="OpsCrew helps operations staff turn a synthetic ex">
            <a:extLst xmlns:a="http://schemas.openxmlformats.org/drawingml/2006/main">
              <a:ext uri="{FF2B5EF4-FFF2-40B4-BE49-F238E27FC236}">
                <a16:creationId xmlns:a16="http://schemas.microsoft.com/office/drawing/2014/main" id="{0B311315-D70F-4650-BEFE-BA62461E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57300"/>
            <a:ext cx="845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OpsCrew helps operations staff turn a synthetic expense exception into a supported handling plan.</a:t>
            </a:r>
          </a:p>
        </p:txBody>
      </p:sp>
      <p:sp>
        <p:nvSpPr>
          <p:cNvPr id="74" name="Gemini extracts facts, proposes steps, then review">
            <a:extLst xmlns:a="http://schemas.openxmlformats.org/drawingml/2006/main">
              <a:ext uri="{FF2B5EF4-FFF2-40B4-BE49-F238E27FC236}">
                <a16:creationId xmlns:a16="http://schemas.microsoft.com/office/drawing/2014/main" id="{031C8567-6F72-440F-8CF2-7AAC116B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76450"/>
            <a:ext cx="845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Gemini extracts facts, proposes steps, then reviews the proposal in a separate call. Fixed policy checks constrain each stage.</a:t>
            </a:r>
          </a:p>
        </p:txBody>
      </p:sp>
      <p:sp>
        <p:nvSpPr>
          <p:cNvPr id="75" name="A person reviews the current plan and explicitly c">
            <a:extLst xmlns:a="http://schemas.openxmlformats.org/drawingml/2006/main">
              <a:ext uri="{FF2B5EF4-FFF2-40B4-BE49-F238E27FC236}">
                <a16:creationId xmlns:a16="http://schemas.microsoft.com/office/drawing/2014/main" id="{5AFF1942-87F8-490A-A0D4-54F89FDF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95600"/>
            <a:ext cx="845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A person reviews the current plan and explicitly confirms a case. The app reads the saved record independently before showing success.</a:t>
            </a:r>
          </a:p>
        </p:txBody>
      </p:sp>
      <p:sp>
        <p:nvSpPr>
          <p:cNvPr id="76" name="The prototype covers one synthetic USD policy. It ">
            <a:extLst xmlns:a="http://schemas.openxmlformats.org/drawingml/2006/main">
              <a:ext uri="{FF2B5EF4-FFF2-40B4-BE49-F238E27FC236}">
                <a16:creationId xmlns:a16="http://schemas.microsoft.com/office/drawing/2014/main" id="{3B2D2568-2EE6-4BD5-9349-ED6A8FE0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714750"/>
            <a:ext cx="845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The prototype covers one synthetic USD policy. It creates handling records and performs no reimbursement or payment.</a:t>
            </a:r>
          </a:p>
        </p:txBody>
      </p:sp>
    </p:spTree>
    <p:extLst>
      <p:ext uri="{BB962C8B-B14F-4D97-AF65-F5344CB8AC3E}">
        <p14:creationId xmlns:p14="http://schemas.microsoft.com/office/powerpoint/2010/main" val="15295222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Google Shape;76;p16">
            <a:extLst xmlns:a="http://schemas.openxmlformats.org/drawingml/2006/main">
              <a:ext uri="{FF2B5EF4-FFF2-40B4-BE49-F238E27FC236}">
                <a16:creationId xmlns:a16="http://schemas.microsoft.com/office/drawing/2014/main" id="{2D386B23-D126-463D-96B7-5429D55F89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6160b32dd1e44c1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7" name="Google Shape;77;p16">
            <a:extLst xmlns:a="http://schemas.openxmlformats.org/drawingml/2006/main">
              <a:ext uri="{FF2B5EF4-FFF2-40B4-BE49-F238E27FC236}">
                <a16:creationId xmlns:a16="http://schemas.microsoft.com/office/drawing/2014/main" id="{DAE0E735-F425-4B64-8E3C-A7251EA8CC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628e0e1234d7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" name="Google Shape;78;p16">
            <a:extLst xmlns:a="http://schemas.openxmlformats.org/drawingml/2006/main">
              <a:ext uri="{FF2B5EF4-FFF2-40B4-BE49-F238E27FC236}">
                <a16:creationId xmlns:a16="http://schemas.microsoft.com/office/drawing/2014/main" id="{6FF7B343-841D-47E4-B818-B0239E75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Opportunities and proposed value">
            <a:extLst xmlns:a="http://schemas.openxmlformats.org/drawingml/2006/main">
              <a:ext uri="{FF2B5EF4-FFF2-40B4-BE49-F238E27FC236}">
                <a16:creationId xmlns:a16="http://schemas.microsoft.com/office/drawing/2014/main" id="{6B00B590-C028-430B-A62D-DD49E133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Opportunities and proposed value</a:t>
            </a:r>
          </a:p>
        </p:txBody>
      </p:sp>
      <p:sp>
        <p:nvSpPr>
          <p:cNvPr id="80" name="OpsCrew  /  Competition proposal  /  3">
            <a:extLst xmlns:a="http://schemas.openxmlformats.org/drawingml/2006/main">
              <a:ext uri="{FF2B5EF4-FFF2-40B4-BE49-F238E27FC236}">
                <a16:creationId xmlns:a16="http://schemas.microsoft.com/office/drawing/2014/main" id="{146CBBA3-0019-4D1A-88EF-E2058DD0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Competition proposal  /  3</a:t>
            </a:r>
          </a:p>
        </p:txBody>
      </p:sp>
      <p:sp>
        <p:nvSpPr>
          <p:cNvPr id="81" name="Problem: staff must reconcile intake text, missing">
            <a:extLst xmlns:a="http://schemas.openxmlformats.org/drawingml/2006/main">
              <a:ext uri="{FF2B5EF4-FFF2-40B4-BE49-F238E27FC236}">
                <a16:creationId xmlns:a16="http://schemas.microsoft.com/office/drawing/2014/main" id="{623E488D-E5C6-42D7-9C3F-36F5A078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57300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Problem: staff must reconcile intake text, missing receipts and policy thresholds before deciding what to request next.</a:t>
            </a:r>
          </a:p>
        </p:txBody>
      </p:sp>
      <p:sp>
        <p:nvSpPr>
          <p:cNvPr id="82" name="Proposed difference: OpsCrew binds the plan to sup">
            <a:extLst xmlns:a="http://schemas.openxmlformats.org/drawingml/2006/main">
              <a:ext uri="{FF2B5EF4-FFF2-40B4-BE49-F238E27FC236}">
                <a16:creationId xmlns:a16="http://schemas.microsoft.com/office/drawing/2014/main" id="{4023CD77-B9C9-41CC-892C-1751DB71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85975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Proposed difference: OpsCrew binds the plan to supported facts and exact policy clauses, then stores the person's confirmation with that version.</a:t>
            </a:r>
          </a:p>
        </p:txBody>
      </p:sp>
      <p:sp>
        <p:nvSpPr>
          <p:cNvPr id="83" name="Design value: input edits invalidate old plans. Co">
            <a:extLst xmlns:a="http://schemas.openxmlformats.org/drawingml/2006/main">
              <a:ext uri="{FF2B5EF4-FFF2-40B4-BE49-F238E27FC236}">
                <a16:creationId xmlns:a16="http://schemas.microsoft.com/office/drawing/2014/main" id="{386EC498-C2E6-4000-9CB0-E2EFD983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914650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Design value: input edits invalidate old plans. Contradictions and unsupported citations block case creation.</a:t>
            </a:r>
          </a:p>
        </p:txBody>
      </p:sp>
      <p:sp>
        <p:nvSpPr>
          <p:cNvPr id="84" name="Expected impact: clearer exception triage and fewe">
            <a:extLst xmlns:a="http://schemas.openxmlformats.org/drawingml/2006/main">
              <a:ext uri="{FF2B5EF4-FFF2-40B4-BE49-F238E27FC236}">
                <a16:creationId xmlns:a16="http://schemas.microsoft.com/office/drawing/2014/main" id="{CBCE773F-45C0-4304-A3AE-B99CAA58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743325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Expected impact: clearer exception triage and fewer unsupported actions. Actual staff time savings and customer adoption remain unmeasured.</a:t>
            </a:r>
          </a:p>
        </p:txBody>
      </p:sp>
    </p:spTree>
    <p:extLst>
      <p:ext uri="{BB962C8B-B14F-4D97-AF65-F5344CB8AC3E}">
        <p14:creationId xmlns:p14="http://schemas.microsoft.com/office/powerpoint/2010/main" val="12598423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4" name="Google Shape;84;p17">
            <a:extLst xmlns:a="http://schemas.openxmlformats.org/drawingml/2006/main">
              <a:ext uri="{FF2B5EF4-FFF2-40B4-BE49-F238E27FC236}">
                <a16:creationId xmlns:a16="http://schemas.microsoft.com/office/drawing/2014/main" id="{8FCF7CEC-7296-4AC9-AB21-E3D2EF5332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fae7093efce49ec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5" name="Google Shape;85;p17">
            <a:extLst xmlns:a="http://schemas.openxmlformats.org/drawingml/2006/main">
              <a:ext uri="{FF2B5EF4-FFF2-40B4-BE49-F238E27FC236}">
                <a16:creationId xmlns:a16="http://schemas.microsoft.com/office/drawing/2014/main" id="{8304755F-E9A5-4429-B9E4-E84C61ECBB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68e2c33afb4ae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6" name="Google Shape;86;p17">
            <a:extLst xmlns:a="http://schemas.openxmlformats.org/drawingml/2006/main">
              <a:ext uri="{FF2B5EF4-FFF2-40B4-BE49-F238E27FC236}">
                <a16:creationId xmlns:a16="http://schemas.microsoft.com/office/drawing/2014/main" id="{0CF7B4C6-084B-412D-9401-E2876A13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Features offered by the solution">
            <a:extLst xmlns:a="http://schemas.openxmlformats.org/drawingml/2006/main">
              <a:ext uri="{FF2B5EF4-FFF2-40B4-BE49-F238E27FC236}">
                <a16:creationId xmlns:a16="http://schemas.microsoft.com/office/drawing/2014/main" id="{D672AD4C-7C2A-4221-B5DE-3120A1FA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Features offered by the solution</a:t>
            </a:r>
          </a:p>
        </p:txBody>
      </p:sp>
      <p:sp>
        <p:nvSpPr>
          <p:cNvPr id="88" name="OpsCrew  /  Competition proposal  /  4">
            <a:extLst xmlns:a="http://schemas.openxmlformats.org/drawingml/2006/main">
              <a:ext uri="{FF2B5EF4-FFF2-40B4-BE49-F238E27FC236}">
                <a16:creationId xmlns:a16="http://schemas.microsoft.com/office/drawing/2014/main" id="{A5C7B53F-885C-40A1-80AB-F4536C0A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Competition proposal  /  4</a:t>
            </a:r>
          </a:p>
        </p:txBody>
      </p:sp>
      <p:sp>
        <p:nvSpPr>
          <p:cNvPr id="89" name="Synthetic presets and original text citations make">
            <a:extLst xmlns:a="http://schemas.openxmlformats.org/drawingml/2006/main">
              <a:ext uri="{FF2B5EF4-FFF2-40B4-BE49-F238E27FC236}">
                <a16:creationId xmlns:a16="http://schemas.microsoft.com/office/drawing/2014/main" id="{BAA24EED-A31B-4C80-B31D-F74F305A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314450"/>
            <a:ext cx="8458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Synthetic presets and original text citations make intake decisions inspectable.</a:t>
            </a:r>
          </a:p>
        </p:txBody>
      </p:sp>
      <p:sp>
        <p:nvSpPr>
          <p:cNvPr id="90" name="Facts, Planner and Reviewer outputs expose disagre">
            <a:extLst xmlns:a="http://schemas.openxmlformats.org/drawingml/2006/main">
              <a:ext uri="{FF2B5EF4-FFF2-40B4-BE49-F238E27FC236}">
                <a16:creationId xmlns:a16="http://schemas.microsoft.com/office/drawing/2014/main" id="{6A81C8EA-19FD-4FBD-B2E0-2D1C3B42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14550"/>
            <a:ext cx="8458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Facts, Planner and Reviewer outputs expose disagreements and exact policy evidence.</a:t>
            </a:r>
          </a:p>
        </p:txBody>
      </p:sp>
      <p:sp>
        <p:nvSpPr>
          <p:cNvPr id="91" name="Firebase visitor identity, owned history and versi">
            <a:extLst xmlns:a="http://schemas.openxmlformats.org/drawingml/2006/main">
              <a:ext uri="{FF2B5EF4-FFF2-40B4-BE49-F238E27FC236}">
                <a16:creationId xmlns:a16="http://schemas.microsoft.com/office/drawing/2014/main" id="{1570B491-67D9-4713-B553-61362DBF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914650"/>
            <a:ext cx="8458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Firebase visitor identity, owned history and version-bound confirmation protect each person's handling records.</a:t>
            </a:r>
          </a:p>
        </p:txBody>
      </p:sp>
      <p:sp>
        <p:nvSpPr>
          <p:cNvPr id="92" name="Atomic writes, idempotent recovery and independent">
            <a:extLst xmlns:a="http://schemas.openxmlformats.org/drawingml/2006/main">
              <a:ext uri="{FF2B5EF4-FFF2-40B4-BE49-F238E27FC236}">
                <a16:creationId xmlns:a16="http://schemas.microsoft.com/office/drawing/2014/main" id="{878F26AA-B852-42D5-8247-16DBF03B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714750"/>
            <a:ext cx="8458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Atomic writes, idempotent recovery and independent readback prevent duplicate or unverified success. Shared quotas bound model traffic.</a:t>
            </a:r>
          </a:p>
        </p:txBody>
      </p:sp>
    </p:spTree>
    <p:extLst>
      <p:ext uri="{BB962C8B-B14F-4D97-AF65-F5344CB8AC3E}">
        <p14:creationId xmlns:p14="http://schemas.microsoft.com/office/powerpoint/2010/main" val="195941959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C787CCF-899C-4D2E-92DE-4B6FE3C6752E}"/>
              </a:ext>
            </a:extLst>
          </p:cNvPr>
          <p:cNvCxnSpPr>
            <a:stCxn xmlns:a="http://schemas.openxmlformats.org/drawingml/2006/main" id="99" idx="2"/>
            <a:endCxn xmlns:a="http://schemas.openxmlformats.org/drawingml/2006/main" id="104" idx="0"/>
          </p:cNvCxnSpPr>
          <p:nvPr/>
        </p:nvCxnSpPr>
        <p:spPr>
          <a:xfrm xmlns:a="http://schemas.openxmlformats.org/drawingml/2006/main">
            <a:off x="7510463" y="2143125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67481"/>
            </a:solidFill>
            <a:prstDash val="solid"/>
            <a:tailEnd type="triangle" w="med" len="med"/>
          </a:ln>
        </p:spPr>
      </p:cxnSp>
      <p:pic>
        <p:nvPicPr>
          <p:cNvPr id="92" name="Google Shape;92;p18">
            <a:extLst xmlns:a="http://schemas.openxmlformats.org/drawingml/2006/main">
              <a:ext uri="{FF2B5EF4-FFF2-40B4-BE49-F238E27FC236}">
                <a16:creationId xmlns:a16="http://schemas.microsoft.com/office/drawing/2014/main" id="{AB190EC5-89D4-4715-A2B0-AA4FADD2C2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3bd69392b304b13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3" name="Google Shape;93;p18">
            <a:extLst xmlns:a="http://schemas.openxmlformats.org/drawingml/2006/main">
              <a:ext uri="{FF2B5EF4-FFF2-40B4-BE49-F238E27FC236}">
                <a16:creationId xmlns:a16="http://schemas.microsoft.com/office/drawing/2014/main" id="{14027AB9-3192-41F0-8C67-83114CDEC6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71ae16b95d4b4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4" name="Google Shape;94;p18">
            <a:extLst xmlns:a="http://schemas.openxmlformats.org/drawingml/2006/main">
              <a:ext uri="{FF2B5EF4-FFF2-40B4-BE49-F238E27FC236}">
                <a16:creationId xmlns:a16="http://schemas.microsoft.com/office/drawing/2014/main" id="{6A0F39B1-ED88-4294-864C-35A83086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Process flow and confirmation">
            <a:extLst xmlns:a="http://schemas.openxmlformats.org/drawingml/2006/main">
              <a:ext uri="{FF2B5EF4-FFF2-40B4-BE49-F238E27FC236}">
                <a16:creationId xmlns:a16="http://schemas.microsoft.com/office/drawing/2014/main" id="{30B70027-4D13-4CDC-9100-712A37F4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Process flow and confirmation</a:t>
            </a:r>
          </a:p>
        </p:txBody>
      </p:sp>
      <p:sp>
        <p:nvSpPr>
          <p:cNvPr id="96" name="OpsCrew  /  Competition proposal  /  5">
            <a:extLst xmlns:a="http://schemas.openxmlformats.org/drawingml/2006/main">
              <a:ext uri="{FF2B5EF4-FFF2-40B4-BE49-F238E27FC236}">
                <a16:creationId xmlns:a16="http://schemas.microsoft.com/office/drawing/2014/main" id="{64FB9AAE-C23E-4A38-A741-C706712C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Competition proposal  /  5</a:t>
            </a:r>
          </a:p>
        </p:txBody>
      </p:sp>
      <p:sp>
        <p:nvSpPr>
          <p:cNvPr id="97" name="Synthetic intake">
            <a:extLst xmlns:a="http://schemas.openxmlformats.org/drawingml/2006/main">
              <a:ext uri="{FF2B5EF4-FFF2-40B4-BE49-F238E27FC236}">
                <a16:creationId xmlns:a16="http://schemas.microsoft.com/office/drawing/2014/main" id="{8B69EF4D-067F-4876-87EA-32408536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3811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Synthetic intake</a:t>
            </a:r>
          </a:p>
        </p:txBody>
      </p:sp>
      <p:sp>
        <p:nvSpPr>
          <p:cNvPr id="98" name="Gemini facts">
            <a:extLst xmlns:a="http://schemas.openxmlformats.org/drawingml/2006/main">
              <a:ext uri="{FF2B5EF4-FFF2-40B4-BE49-F238E27FC236}">
                <a16:creationId xmlns:a16="http://schemas.microsoft.com/office/drawing/2014/main" id="{4BE3281D-C42A-446E-ACD9-4E63867B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3811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Gemini facts</a:t>
            </a:r>
          </a:p>
        </p:txBody>
      </p:sp>
      <p:sp>
        <p:nvSpPr>
          <p:cNvPr id="99" name="Planner + Reviewer">
            <a:extLst xmlns:a="http://schemas.openxmlformats.org/drawingml/2006/main">
              <a:ext uri="{FF2B5EF4-FFF2-40B4-BE49-F238E27FC236}">
                <a16:creationId xmlns:a16="http://schemas.microsoft.com/office/drawing/2014/main" id="{9ADC3E5B-3BF1-4266-B9C1-CAB65DB3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811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Planner + Reviewer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5D4DD8B-892A-4D60-B347-AE280EAC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657350"/>
            <a:ext cx="2571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67481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6E4B57F-AD60-4E30-AC07-0433DFD2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57350"/>
            <a:ext cx="2571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67481"/>
          </a:solidFill>
          <a:ln xmlns:a="http://schemas.openxmlformats.org/drawingml/2006/main" w="0">
            <a:noFill/>
          </a:ln>
        </p:spPr>
      </p:sp>
      <p:sp>
        <p:nvSpPr>
          <p:cNvPr id="102" name="Saved record readback">
            <a:extLst xmlns:a="http://schemas.openxmlformats.org/drawingml/2006/main">
              <a:ext uri="{FF2B5EF4-FFF2-40B4-BE49-F238E27FC236}">
                <a16:creationId xmlns:a16="http://schemas.microsoft.com/office/drawing/2014/main" id="{E5246FFB-5023-4E2E-AB0C-52CE75BE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7908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Saved record readback</a:t>
            </a:r>
          </a:p>
        </p:txBody>
      </p:sp>
      <p:sp>
        <p:nvSpPr>
          <p:cNvPr id="103" name="Human confirmation">
            <a:extLst xmlns:a="http://schemas.openxmlformats.org/drawingml/2006/main">
              <a:ext uri="{FF2B5EF4-FFF2-40B4-BE49-F238E27FC236}">
                <a16:creationId xmlns:a16="http://schemas.microsoft.com/office/drawing/2014/main" id="{DD7E5704-27A1-494A-B271-4CE5DB7C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908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Human confirmation</a:t>
            </a:r>
          </a:p>
        </p:txBody>
      </p:sp>
      <p:sp>
        <p:nvSpPr>
          <p:cNvPr id="104" name="Fixed policy checks">
            <a:extLst xmlns:a="http://schemas.openxmlformats.org/drawingml/2006/main">
              <a:ext uri="{FF2B5EF4-FFF2-40B4-BE49-F238E27FC236}">
                <a16:creationId xmlns:a16="http://schemas.microsoft.com/office/drawing/2014/main" id="{0BE0E7A8-447B-40C7-B1E6-806181CF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908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Fixed policy checks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2F32D31-98C9-4A9F-B15E-334A8AB4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67050"/>
            <a:ext cx="257175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67481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FA78E31-8C9E-494D-AB80-A538AA09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67050"/>
            <a:ext cx="257175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67481"/>
          </a:solidFill>
          <a:ln xmlns:a="http://schemas.openxmlformats.org/drawingml/2006/main" w="0">
            <a:noFill/>
          </a:ln>
        </p:spPr>
      </p:sp>
      <p:sp>
        <p:nvSpPr>
          <p:cNvPr id="108" name="Missing evidence produces a request plan. Contradi">
            <a:extLst xmlns:a="http://schemas.openxmlformats.org/drawingml/2006/main">
              <a:ext uri="{FF2B5EF4-FFF2-40B4-BE49-F238E27FC236}">
                <a16:creationId xmlns:a16="http://schemas.microsoft.com/office/drawing/2014/main" id="{9F53C9B7-C52C-453E-A5FF-DDB3C20D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962400"/>
            <a:ext cx="8429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Missing evidence produces a request plan. Contradictions block progression.</a:t>
            </a:r>
          </a:p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Editing intake requires a new analysis and a new confirmation.</a:t>
            </a:r>
          </a:p>
        </p:txBody>
      </p:sp>
    </p:spTree>
    <p:extLst>
      <p:ext uri="{BB962C8B-B14F-4D97-AF65-F5344CB8AC3E}">
        <p14:creationId xmlns:p14="http://schemas.microsoft.com/office/powerpoint/2010/main" val="19725144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" name="Google Shape;100;p19">
            <a:extLst xmlns:a="http://schemas.openxmlformats.org/drawingml/2006/main">
              <a:ext uri="{FF2B5EF4-FFF2-40B4-BE49-F238E27FC236}">
                <a16:creationId xmlns:a16="http://schemas.microsoft.com/office/drawing/2014/main" id="{62839F5A-BB20-4538-ACE6-4409DB6A42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39f4d91b95a4e09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" name="Google Shape;101;p19">
            <a:extLst xmlns:a="http://schemas.openxmlformats.org/drawingml/2006/main">
              <a:ext uri="{FF2B5EF4-FFF2-40B4-BE49-F238E27FC236}">
                <a16:creationId xmlns:a16="http://schemas.microsoft.com/office/drawing/2014/main" id="{C8AA0F2E-3D79-4FA6-9B47-D58FB66895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a26165ad948a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2" name="Google Shape;102;p19">
            <a:extLst xmlns:a="http://schemas.openxmlformats.org/drawingml/2006/main">
              <a:ext uri="{FF2B5EF4-FFF2-40B4-BE49-F238E27FC236}">
                <a16:creationId xmlns:a16="http://schemas.microsoft.com/office/drawing/2014/main" id="{6E7523B8-300C-46FD-9B26-9323E603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Interface in the recorded cloud demonstration">
            <a:extLst xmlns:a="http://schemas.openxmlformats.org/drawingml/2006/main">
              <a:ext uri="{FF2B5EF4-FFF2-40B4-BE49-F238E27FC236}">
                <a16:creationId xmlns:a16="http://schemas.microsoft.com/office/drawing/2014/main" id="{CE1CA37D-8BFB-4066-8938-529475BF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Interface in the recorded cloud demonstration</a:t>
            </a:r>
          </a:p>
        </p:txBody>
      </p:sp>
      <p:sp>
        <p:nvSpPr>
          <p:cNvPr id="104" name="OpsCrew  /  Competition proposal  /  6">
            <a:extLst xmlns:a="http://schemas.openxmlformats.org/drawingml/2006/main">
              <a:ext uri="{FF2B5EF4-FFF2-40B4-BE49-F238E27FC236}">
                <a16:creationId xmlns:a16="http://schemas.microsoft.com/office/drawing/2014/main" id="{1F444678-2CFD-4B32-83E5-9B788B72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Competition proposal  /  6</a:t>
            </a:r>
          </a:p>
        </p:txBody>
      </p:sp>
      <p:pic>
        <p:nvPic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AF0CE11-05B9-4318-912F-D6A24F2919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602bc7b263498e"/>
          <a:stretch xmlns:a="http://schemas.openxmlformats.org/drawingml/2006/main"/>
        </p:blipFill>
        <p:spPr>
          <a:xfrm xmlns:a="http://schemas.openxmlformats.org/drawingml/2006/main">
            <a:off x="781707" y="1190625"/>
            <a:ext cx="5218386" cy="3429000"/>
          </a:xfrm>
          <a:prstGeom xmlns:a="http://schemas.openxmlformats.org/drawingml/2006/main" prst="rect">
            <a:avLst/>
          </a:prstGeom>
        </p:spPr>
      </p:pic>
      <p:sp>
        <p:nvSpPr>
          <p:cNvPr id="106" name="A person reviews the current result before confirm">
            <a:extLst xmlns:a="http://schemas.openxmlformats.org/drawingml/2006/main">
              <a:ext uri="{FF2B5EF4-FFF2-40B4-BE49-F238E27FC236}">
                <a16:creationId xmlns:a16="http://schemas.microsoft.com/office/drawing/2014/main" id="{B372012B-0653-46EA-A27A-D9B905D9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381125"/>
            <a:ext cx="20955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A person reviews the current result before confirming an eligible handling record.</a:t>
            </a:r>
          </a:p>
        </p:txBody>
      </p:sp>
      <p:sp>
        <p:nvSpPr>
          <p:cNvPr id="107" name="Recorded UI, 15 October 2026, at 75 s. Synthetic e">
            <a:extLst xmlns:a="http://schemas.openxmlformats.org/drawingml/2006/main">
              <a:ext uri="{FF2B5EF4-FFF2-40B4-BE49-F238E27FC236}">
                <a16:creationId xmlns:a16="http://schemas.microsoft.com/office/drawing/2014/main" id="{1178303B-6750-4186-9E58-4D4F4319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86100"/>
            <a:ext cx="209550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Recorded UI, 15 October 2026, at 75 s. Synthetic example supplied by the team.</a:t>
            </a:r>
          </a:p>
        </p:txBody>
      </p:sp>
    </p:spTree>
    <p:extLst>
      <p:ext uri="{BB962C8B-B14F-4D97-AF65-F5344CB8AC3E}">
        <p14:creationId xmlns:p14="http://schemas.microsoft.com/office/powerpoint/2010/main" val="86590243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1412D57-6D0E-4BB3-B444-6C2F04BFA5C7}"/>
              </a:ext>
            </a:extLst>
          </p:cNvPr>
          <p:cNvCxnSpPr>
            <a:stCxn xmlns:a="http://schemas.openxmlformats.org/drawingml/2006/main" id="120" idx="1"/>
            <a:endCxn xmlns:a="http://schemas.openxmlformats.org/drawingml/2006/main" id="114" idx="3"/>
          </p:cNvCxnSpPr>
          <p:nvPr/>
        </p:nvCxnSpPr>
        <p:spPr>
          <a:xfrm xmlns:a="http://schemas.openxmlformats.org/drawingml/2006/main" flipH="1" flipV="1">
            <a:off x="5819775" y="1762125"/>
            <a:ext cx="428625" cy="1514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67481"/>
            </a:solidFill>
            <a:prstDash val="solid"/>
            <a:tailEnd type="triangle" w="med" len="med"/>
          </a:ln>
        </p:spPr>
      </p:cxnSp>
      <p:cxnSp>
        <p:nvCxn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FD0EA2B-87C5-4C57-AB30-022A88B08200}"/>
              </a:ext>
            </a:extLst>
          </p:cNvPr>
          <p:cNvCxnSpPr>
            <a:stCxn xmlns:a="http://schemas.openxmlformats.org/drawingml/2006/main" id="114" idx="1"/>
            <a:endCxn xmlns:a="http://schemas.openxmlformats.org/drawingml/2006/main" id="118" idx="3"/>
          </p:cNvCxnSpPr>
          <p:nvPr/>
        </p:nvCxnSpPr>
        <p:spPr>
          <a:xfrm xmlns:a="http://schemas.openxmlformats.org/drawingml/2006/main" flipH="1">
            <a:off x="2867025" y="1762125"/>
            <a:ext cx="428625" cy="1514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67481"/>
            </a:solidFill>
            <a:prstDash val="solid"/>
            <a:tailEnd type="triangle" w="med" len="med"/>
          </a:ln>
        </p:spPr>
      </p:cxnSp>
      <p:cxnSp>
        <p:nvCxn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CA5C279-07B9-4A5C-95CC-8CF6BF02C16E}"/>
              </a:ext>
            </a:extLst>
          </p:cNvPr>
          <p:cNvCxnSpPr>
            <a:stCxn xmlns:a="http://schemas.openxmlformats.org/drawingml/2006/main" id="113" idx="2"/>
            <a:endCxn xmlns:a="http://schemas.openxmlformats.org/drawingml/2006/main" id="118" idx="0"/>
          </p:cNvCxnSpPr>
          <p:nvPr/>
        </p:nvCxnSpPr>
        <p:spPr>
          <a:xfrm xmlns:a="http://schemas.openxmlformats.org/drawingml/2006/main">
            <a:off x="1604963" y="2143125"/>
            <a:ext cx="0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67481"/>
            </a:solidFill>
            <a:prstDash val="solid"/>
            <a:tailEnd type="triangle" w="med" len="med"/>
          </a:ln>
        </p:spPr>
      </p:cxnSp>
      <p:cxnSp>
        <p:nvCxn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88141C1-D3A5-4539-885D-F92CEC8E599B}"/>
              </a:ext>
            </a:extLst>
          </p:cNvPr>
          <p:cNvCxnSpPr>
            <a:stCxn xmlns:a="http://schemas.openxmlformats.org/drawingml/2006/main" id="114" idx="2"/>
            <a:endCxn xmlns:a="http://schemas.openxmlformats.org/drawingml/2006/main" id="119" idx="0"/>
          </p:cNvCxnSpPr>
          <p:nvPr/>
        </p:nvCxnSpPr>
        <p:spPr>
          <a:xfrm xmlns:a="http://schemas.openxmlformats.org/drawingml/2006/main">
            <a:off x="4557713" y="2143125"/>
            <a:ext cx="0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67481"/>
            </a:solidFill>
            <a:prstDash val="solid"/>
            <a:tailEnd type="triangle" w="med" len="med"/>
          </a:ln>
        </p:spPr>
      </p:cxnSp>
      <p:pic>
        <p:nvPicPr>
          <p:cNvPr id="108" name="Google Shape;108;p20">
            <a:extLst xmlns:a="http://schemas.openxmlformats.org/drawingml/2006/main">
              <a:ext uri="{FF2B5EF4-FFF2-40B4-BE49-F238E27FC236}">
                <a16:creationId xmlns:a16="http://schemas.microsoft.com/office/drawing/2014/main" id="{782A64BB-310D-4691-90E7-5745EE2A99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1d3d15db66e4b0d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9" name="Google Shape;109;p20">
            <a:extLst xmlns:a="http://schemas.openxmlformats.org/drawingml/2006/main">
              <a:ext uri="{FF2B5EF4-FFF2-40B4-BE49-F238E27FC236}">
                <a16:creationId xmlns:a16="http://schemas.microsoft.com/office/drawing/2014/main" id="{3572E720-B060-484B-80ED-5886CAF83B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9673c89bf148d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0" name="Google Shape;110;p20">
            <a:extLst xmlns:a="http://schemas.openxmlformats.org/drawingml/2006/main">
              <a:ext uri="{FF2B5EF4-FFF2-40B4-BE49-F238E27FC236}">
                <a16:creationId xmlns:a16="http://schemas.microsoft.com/office/drawing/2014/main" id="{C389B49F-2E1F-4265-A85A-45E2B1DD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Cloud architecture and trust boundaries">
            <a:extLst xmlns:a="http://schemas.openxmlformats.org/drawingml/2006/main">
              <a:ext uri="{FF2B5EF4-FFF2-40B4-BE49-F238E27FC236}">
                <a16:creationId xmlns:a16="http://schemas.microsoft.com/office/drawing/2014/main" id="{F535CC9F-653B-4D4B-93A6-045ACB59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Cloud architecture and trust boundaries</a:t>
            </a:r>
          </a:p>
        </p:txBody>
      </p:sp>
      <p:sp>
        <p:nvSpPr>
          <p:cNvPr id="112" name="OpsCrew  /  Competition proposal  /  7">
            <a:extLst xmlns:a="http://schemas.openxmlformats.org/drawingml/2006/main">
              <a:ext uri="{FF2B5EF4-FFF2-40B4-BE49-F238E27FC236}">
                <a16:creationId xmlns:a16="http://schemas.microsoft.com/office/drawing/2014/main" id="{3199E456-6347-4927-99F5-672F55BF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Competition proposal  /  7</a:t>
            </a:r>
          </a:p>
        </p:txBody>
      </p:sp>
      <p:sp>
        <p:nvSpPr>
          <p:cNvPr id="113" name="Browser&#10;English React interface">
            <a:extLst xmlns:a="http://schemas.openxmlformats.org/drawingml/2006/main">
              <a:ext uri="{FF2B5EF4-FFF2-40B4-BE49-F238E27FC236}">
                <a16:creationId xmlns:a16="http://schemas.microsoft.com/office/drawing/2014/main" id="{AB52004F-6500-472D-811A-5C6999ED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3811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Browser</a:t>
            </a:r>
          </a:p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English React interface</a:t>
            </a:r>
          </a:p>
        </p:txBody>
      </p:sp>
      <p:sp>
        <p:nvSpPr>
          <p:cNvPr id="114" name="Cloud Run&#10;Node API + validators">
            <a:extLst xmlns:a="http://schemas.openxmlformats.org/drawingml/2006/main">
              <a:ext uri="{FF2B5EF4-FFF2-40B4-BE49-F238E27FC236}">
                <a16:creationId xmlns:a16="http://schemas.microsoft.com/office/drawing/2014/main" id="{82C3115C-EC5F-4ABF-A47B-6CC7E0A3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3811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Cloud Run</a:t>
            </a:r>
          </a:p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Node API + validators</a:t>
            </a:r>
          </a:p>
        </p:txBody>
      </p:sp>
      <p:sp>
        <p:nvSpPr>
          <p:cNvPr id="115" name="Vertex AI / Gemini&#10;Developer API option">
            <a:extLst xmlns:a="http://schemas.openxmlformats.org/drawingml/2006/main">
              <a:ext uri="{FF2B5EF4-FFF2-40B4-BE49-F238E27FC236}">
                <a16:creationId xmlns:a16="http://schemas.microsoft.com/office/drawing/2014/main" id="{0DAE5C69-B94F-42EA-88C5-5D259680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811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Vertex AI / Gemini</a:t>
            </a:r>
          </a:p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Developer API option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54CD05B-660D-41AB-A3FE-AC0CED9D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657350"/>
            <a:ext cx="2571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67481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455D1B6-DFCC-4DDA-943A-B977CE33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57350"/>
            <a:ext cx="2571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67481"/>
          </a:solidFill>
          <a:ln xmlns:a="http://schemas.openxmlformats.org/drawingml/2006/main" w="0">
            <a:noFill/>
          </a:ln>
        </p:spPr>
      </p:sp>
      <p:sp>
        <p:nvSpPr>
          <p:cNvPr id="118" name="Firebase Auth&#10;Visitor identity">
            <a:extLst xmlns:a="http://schemas.openxmlformats.org/drawingml/2006/main">
              <a:ext uri="{FF2B5EF4-FFF2-40B4-BE49-F238E27FC236}">
                <a16:creationId xmlns:a16="http://schemas.microsoft.com/office/drawing/2014/main" id="{A64BA69A-1EA0-440A-90D8-B0F21B9D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95600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Firebase Auth</a:t>
            </a:r>
          </a:p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Visitor identity</a:t>
            </a:r>
          </a:p>
        </p:txBody>
      </p:sp>
      <p:sp>
        <p:nvSpPr>
          <p:cNvPr id="119" name="Firestore&#10;Plans / cases / quotas">
            <a:extLst xmlns:a="http://schemas.openxmlformats.org/drawingml/2006/main">
              <a:ext uri="{FF2B5EF4-FFF2-40B4-BE49-F238E27FC236}">
                <a16:creationId xmlns:a16="http://schemas.microsoft.com/office/drawing/2014/main" id="{C44ACCF1-62BC-4D5C-B91F-38D12FDB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95600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Firestore</a:t>
            </a:r>
          </a:p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Plans / cases / quotas</a:t>
            </a:r>
          </a:p>
        </p:txBody>
      </p:sp>
      <p:sp>
        <p:nvSpPr>
          <p:cNvPr id="120" name="ADC service identity&#10;API key optional">
            <a:extLst xmlns:a="http://schemas.openxmlformats.org/drawingml/2006/main">
              <a:ext uri="{FF2B5EF4-FFF2-40B4-BE49-F238E27FC236}">
                <a16:creationId xmlns:a16="http://schemas.microsoft.com/office/drawing/2014/main" id="{344EE80C-924C-40D4-9581-559D625E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95600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ADC service identity</a:t>
            </a:r>
          </a:p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API key optional</a:t>
            </a:r>
          </a:p>
        </p:txBody>
      </p:sp>
      <p:sp>
        <p:nvSpPr>
          <p:cNvPr id="125" name="The server selects Vertex AI with ADC or the optio">
            <a:extLst xmlns:a="http://schemas.openxmlformats.org/drawingml/2006/main">
              <a:ext uri="{FF2B5EF4-FFF2-40B4-BE49-F238E27FC236}">
                <a16:creationId xmlns:a16="http://schemas.microsoft.com/office/drawing/2014/main" id="{511295EF-DCE9-433C-A123-3278A14C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057650"/>
            <a:ext cx="8429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0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The server selects Vertex AI with ADC or the optional Developer API route. Model credentials stay on the server. Visitor identity controls access to plans and saved cases.</a:t>
            </a:r>
          </a:p>
        </p:txBody>
      </p:sp>
    </p:spTree>
    <p:extLst>
      <p:ext uri="{BB962C8B-B14F-4D97-AF65-F5344CB8AC3E}">
        <p14:creationId xmlns:p14="http://schemas.microsoft.com/office/powerpoint/2010/main" val="517049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6" name="Google Shape;116;p21">
            <a:extLst xmlns:a="http://schemas.openxmlformats.org/drawingml/2006/main">
              <a:ext uri="{FF2B5EF4-FFF2-40B4-BE49-F238E27FC236}">
                <a16:creationId xmlns:a16="http://schemas.microsoft.com/office/drawing/2014/main" id="{8CD31306-F9C0-47A9-93B4-CDC6068238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e5c2895365940db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7" name="Google Shape;117;p21">
            <a:extLst xmlns:a="http://schemas.openxmlformats.org/drawingml/2006/main">
              <a:ext uri="{FF2B5EF4-FFF2-40B4-BE49-F238E27FC236}">
                <a16:creationId xmlns:a16="http://schemas.microsoft.com/office/drawing/2014/main" id="{5DCEE4E1-324F-4BA3-8D4B-DC46CFA4F5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eaf07c8694fa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8" name="Google Shape;118;p21">
            <a:extLst xmlns:a="http://schemas.openxmlformats.org/drawingml/2006/main">
              <a:ext uri="{FF2B5EF4-FFF2-40B4-BE49-F238E27FC236}">
                <a16:creationId xmlns:a16="http://schemas.microsoft.com/office/drawing/2014/main" id="{5342557C-0F01-4FE2-8253-D94479B0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Technologies used in the solution">
            <a:extLst xmlns:a="http://schemas.openxmlformats.org/drawingml/2006/main">
              <a:ext uri="{FF2B5EF4-FFF2-40B4-BE49-F238E27FC236}">
                <a16:creationId xmlns:a16="http://schemas.microsoft.com/office/drawing/2014/main" id="{28214F1A-618B-439F-860E-817D7B76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Technologies used in the solution</a:t>
            </a:r>
          </a:p>
        </p:txBody>
      </p:sp>
      <p:sp>
        <p:nvSpPr>
          <p:cNvPr id="120" name="OpsCrew  /  Competition proposal  /  8">
            <a:extLst xmlns:a="http://schemas.openxmlformats.org/drawingml/2006/main">
              <a:ext uri="{FF2B5EF4-FFF2-40B4-BE49-F238E27FC236}">
                <a16:creationId xmlns:a16="http://schemas.microsoft.com/office/drawing/2014/main" id="{55CF4EEE-BC24-4989-91FE-1A38797F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Competition proposal  /  8</a:t>
            </a:r>
          </a:p>
        </p:txBody>
      </p:sp>
      <p:graphicFrame>
        <p:nvGraphicFrame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065D393-CFA4-4AEF-9169-86B7E93CD843}"/>
              </a:ext>
            </a:extLst>
          </p:cNvPr>
          <p:cNvGraphicFramePr/>
          <p:nvPr/>
        </p:nvGraphicFramePr>
        <p:xfrm>
          <a:off xmlns:a="http://schemas.openxmlformats.org/drawingml/2006/main" x="342900" y="1314450"/>
          <a:ext xmlns:a="http://schemas.openxmlformats.org/drawingml/2006/main" cx="8458200" cy="2981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5410200"/>
              </a:tblGrid>
              <a:tr h="496888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Component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T w="9525">
                      <a:solidFill>
                        <a:srgbClr val="D3DDE2"/>
                      </a:solidFill>
                      <a:prstDash val="solid"/>
                    </a:lnT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Role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T w="9525">
                      <a:solidFill>
                        <a:srgbClr val="D3DDE2"/>
                      </a:solidFill>
                      <a:prstDash val="solid"/>
                    </a:lnT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4968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Google AI Studio Build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Fresh application origin on 7 October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Gemini server modes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Vertex AI with ADC; optional Developer API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Current service config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Gemini 2.5 Flash, self-reported on 16 October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Node 24 / React / TypeScript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Explicit confirmation and fixed API policy checks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Cloud Run + Firebase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Hosting, visitor identity and saved handling records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2" name="From zero in AI Studio Build. Antigravity assisted">
            <a:extLst xmlns:a="http://schemas.openxmlformats.org/drawingml/2006/main">
              <a:ext uri="{FF2B5EF4-FFF2-40B4-BE49-F238E27FC236}">
                <a16:creationId xmlns:a16="http://schemas.microsoft.com/office/drawing/2014/main" id="{F63D8CE2-AD6E-4477-80BC-5D3323DF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81500"/>
            <a:ext cx="845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From zero in AI Studio Build. Antigravity assisted deployment (team-reported).</a:t>
            </a:r>
          </a:p>
        </p:txBody>
      </p:sp>
    </p:spTree>
    <p:extLst>
      <p:ext uri="{BB962C8B-B14F-4D97-AF65-F5344CB8AC3E}">
        <p14:creationId xmlns:p14="http://schemas.microsoft.com/office/powerpoint/2010/main" val="95845121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4" name="Google Shape;124;p22">
            <a:extLst xmlns:a="http://schemas.openxmlformats.org/drawingml/2006/main">
              <a:ext uri="{FF2B5EF4-FFF2-40B4-BE49-F238E27FC236}">
                <a16:creationId xmlns:a16="http://schemas.microsoft.com/office/drawing/2014/main" id="{4A5D60C2-C666-40E2-9935-01B035B43C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84abc039cb64dd0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5" name="Google Shape;125;p22">
            <a:extLst xmlns:a="http://schemas.openxmlformats.org/drawingml/2006/main">
              <a:ext uri="{FF2B5EF4-FFF2-40B4-BE49-F238E27FC236}">
                <a16:creationId xmlns:a16="http://schemas.microsoft.com/office/drawing/2014/main" id="{67AC88BB-F3E1-4641-97CF-8312967EB2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83d4896cb346c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6" name="Google Shape;126;p22">
            <a:extLst xmlns:a="http://schemas.openxmlformats.org/drawingml/2006/main">
              <a:ext uri="{FF2B5EF4-FFF2-40B4-BE49-F238E27FC236}">
                <a16:creationId xmlns:a16="http://schemas.microsoft.com/office/drawing/2014/main" id="{FFD792D4-D1C7-4748-9B27-5D9005BB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Implementation cost and traffic controls">
            <a:extLst xmlns:a="http://schemas.openxmlformats.org/drawingml/2006/main">
              <a:ext uri="{FF2B5EF4-FFF2-40B4-BE49-F238E27FC236}">
                <a16:creationId xmlns:a16="http://schemas.microsoft.com/office/drawing/2014/main" id="{10CC0FE9-55D2-453D-A21B-AC2035FA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Implementation cost and traffic controls</a:t>
            </a:r>
          </a:p>
        </p:txBody>
      </p:sp>
      <p:sp>
        <p:nvSpPr>
          <p:cNvPr id="128" name="OpsCrew  /  Competition proposal  /  9">
            <a:extLst xmlns:a="http://schemas.openxmlformats.org/drawingml/2006/main">
              <a:ext uri="{FF2B5EF4-FFF2-40B4-BE49-F238E27FC236}">
                <a16:creationId xmlns:a16="http://schemas.microsoft.com/office/drawing/2014/main" id="{BD046C25-CCD5-418E-A569-532D616D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Competition proposal  /  9</a:t>
            </a:r>
          </a:p>
        </p:txBody>
      </p:sp>
      <p:sp>
        <p:nvSpPr>
          <p:cNvPr id="129" name="Team management target: USD 40. Billing alerts and">
            <a:extLst xmlns:a="http://schemas.openxmlformats.org/drawingml/2006/main">
              <a:ext uri="{FF2B5EF4-FFF2-40B4-BE49-F238E27FC236}">
                <a16:creationId xmlns:a16="http://schemas.microsoft.com/office/drawing/2014/main" id="{1D0FE0F5-B5E9-45A9-B666-476EBC4F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8458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Team management target: USD 40. Billing alerts and application quotas cannot guarantee a monetary spending cap.</a:t>
            </a:r>
          </a:p>
        </p:txBody>
      </p:sp>
      <p:sp>
        <p:nvSpPr>
          <p:cNvPr id="130" name="Default model limits: 2 concurrent runs globally, ">
            <a:extLst xmlns:a="http://schemas.openxmlformats.org/drawingml/2006/main">
              <a:ext uri="{FF2B5EF4-FFF2-40B4-BE49-F238E27FC236}">
                <a16:creationId xmlns:a16="http://schemas.microsoft.com/office/drawing/2014/main" id="{2891D00C-A098-4882-B9B9-C45DBB0F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76450"/>
            <a:ext cx="8458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Default model limits: 2 concurrent runs globally, 1 per visitor. Each visitor has 2 runs per minute and 12 per UTC day.</a:t>
            </a:r>
          </a:p>
        </p:txBody>
      </p:sp>
      <p:sp>
        <p:nvSpPr>
          <p:cNvPr id="131" name="Global limits: 6 runs per minute and 60 per UTC da">
            <a:extLst xmlns:a="http://schemas.openxmlformats.org/drawingml/2006/main">
              <a:ext uri="{FF2B5EF4-FFF2-40B4-BE49-F238E27FC236}">
                <a16:creationId xmlns:a16="http://schemas.microsoft.com/office/drawing/2014/main" id="{C824455E-185A-4198-B128-79EB1BC9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914650"/>
            <a:ext cx="8458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Global limits: 6 runs per minute and 60 per UTC day. Each workflow reserves up to 6 provider attempts. Unknown usage receives no refund.</a:t>
            </a:r>
          </a:p>
        </p:txBody>
      </p:sp>
      <p:sp>
        <p:nvSpPr>
          <p:cNvPr id="132" name="Historical 13 October Developer API observations: ">
            <a:extLst xmlns:a="http://schemas.openxmlformats.org/drawingml/2006/main">
              <a:ext uri="{FF2B5EF4-FFF2-40B4-BE49-F238E27FC236}">
                <a16:creationId xmlns:a16="http://schemas.microsoft.com/office/drawing/2014/main" id="{F2080E0F-B5F0-4213-B023-B591F262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752850"/>
            <a:ext cx="8458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Historical 13 October Developer API observations: 10 attempts and 11,680 known tokens. One FACTS call returned 503. Its usage and actual billed cost are unknown.</a:t>
            </a:r>
          </a:p>
        </p:txBody>
      </p:sp>
    </p:spTree>
    <p:extLst>
      <p:ext uri="{BB962C8B-B14F-4D97-AF65-F5344CB8AC3E}">
        <p14:creationId xmlns:p14="http://schemas.microsoft.com/office/powerpoint/2010/main" val="15786574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2" name="Google Shape;132;p23">
            <a:extLst xmlns:a="http://schemas.openxmlformats.org/drawingml/2006/main">
              <a:ext uri="{FF2B5EF4-FFF2-40B4-BE49-F238E27FC236}">
                <a16:creationId xmlns:a16="http://schemas.microsoft.com/office/drawing/2014/main" id="{F02381EB-7693-4EAE-92D8-FC22E4303C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32dd8e931be4088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3" name="Google Shape;133;p23">
            <a:extLst xmlns:a="http://schemas.openxmlformats.org/drawingml/2006/main">
              <a:ext uri="{FF2B5EF4-FFF2-40B4-BE49-F238E27FC236}">
                <a16:creationId xmlns:a16="http://schemas.microsoft.com/office/drawing/2014/main" id="{F97AA5EC-4267-4B29-A548-5DC29E39D5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8c43fe1a9a426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4" name="Google Shape;134;p23">
            <a:extLst xmlns:a="http://schemas.openxmlformats.org/drawingml/2006/main">
              <a:ext uri="{FF2B5EF4-FFF2-40B4-BE49-F238E27FC236}">
                <a16:creationId xmlns:a16="http://schemas.microsoft.com/office/drawing/2014/main" id="{CC100C54-9312-45CC-AEE7-402B9AB4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Prototype: confirmed case and independent readback">
            <a:extLst xmlns:a="http://schemas.openxmlformats.org/drawingml/2006/main">
              <a:ext uri="{FF2B5EF4-FFF2-40B4-BE49-F238E27FC236}">
                <a16:creationId xmlns:a16="http://schemas.microsoft.com/office/drawing/2014/main" id="{2BBBA888-D6D2-4721-974E-441872DE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Prototype: confirmed case and independent readback</a:t>
            </a:r>
          </a:p>
        </p:txBody>
      </p:sp>
      <p:sp>
        <p:nvSpPr>
          <p:cNvPr id="136" name="OpsCrew  /  Competition proposal  /  10">
            <a:extLst xmlns:a="http://schemas.openxmlformats.org/drawingml/2006/main">
              <a:ext uri="{FF2B5EF4-FFF2-40B4-BE49-F238E27FC236}">
                <a16:creationId xmlns:a16="http://schemas.microsoft.com/office/drawing/2014/main" id="{A1DA6F77-EDB0-4C02-8195-01D0FFF1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Competition proposal  /  10</a:t>
            </a:r>
          </a:p>
        </p:txBody>
      </p:sp>
      <p:pic>
        <p:nvPic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F46B096-3EA7-4195-8C64-C4E9B52379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638181068448c"/>
          <a:stretch xmlns:a="http://schemas.openxmlformats.org/drawingml/2006/main"/>
        </p:blipFill>
        <p:spPr>
          <a:xfrm xmlns:a="http://schemas.openxmlformats.org/drawingml/2006/main">
            <a:off x="342900" y="1339270"/>
            <a:ext cx="8458200" cy="2836436"/>
          </a:xfrm>
          <a:prstGeom xmlns:a="http://schemas.openxmlformats.org/drawingml/2006/main" prst="rect">
            <a:avLst/>
          </a:prstGeom>
        </p:spPr>
      </p:pic>
      <p:sp>
        <p:nvSpPr>
          <p:cNvPr id="138" name="Recorded UI, 15 October 2026, at 96 s. The confirm">
            <a:extLst xmlns:a="http://schemas.openxmlformats.org/drawingml/2006/main">
              <a:ext uri="{FF2B5EF4-FFF2-40B4-BE49-F238E27FC236}">
                <a16:creationId xmlns:a16="http://schemas.microsoft.com/office/drawing/2014/main" id="{77919DC7-0484-4727-B7B5-B4BCC278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24350"/>
            <a:ext cx="8458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Recorded UI, 15 October 2026, at 96 s. The confirmed USD 38 synthetic request is OPEN. No reimbursement approval or payment occurs.</a:t>
            </a:r>
          </a:p>
        </p:txBody>
      </p:sp>
    </p:spTree>
    <p:extLst>
      <p:ext uri="{BB962C8B-B14F-4D97-AF65-F5344CB8AC3E}">
        <p14:creationId xmlns:p14="http://schemas.microsoft.com/office/powerpoint/2010/main" val="116065056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0" name="Google Shape;140;p24">
            <a:extLst xmlns:a="http://schemas.openxmlformats.org/drawingml/2006/main">
              <a:ext uri="{FF2B5EF4-FFF2-40B4-BE49-F238E27FC236}">
                <a16:creationId xmlns:a16="http://schemas.microsoft.com/office/drawing/2014/main" id="{2F8A63AD-1DE6-499B-9270-BE34242F92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fce468abc884c1d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1" name="Google Shape;141;p24">
            <a:extLst xmlns:a="http://schemas.openxmlformats.org/drawingml/2006/main">
              <a:ext uri="{FF2B5EF4-FFF2-40B4-BE49-F238E27FC236}">
                <a16:creationId xmlns:a16="http://schemas.microsoft.com/office/drawing/2014/main" id="{BA584312-81F1-4985-9E00-DA6B6CAEE1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b25e7ccab426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2" name="Google Shape;142;p24">
            <a:extLst xmlns:a="http://schemas.openxmlformats.org/drawingml/2006/main">
              <a:ext uri="{FF2B5EF4-FFF2-40B4-BE49-F238E27FC236}">
                <a16:creationId xmlns:a16="http://schemas.microsoft.com/office/drawing/2014/main" id="{F18331C5-6747-44E3-9EBD-982EFAFE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Performance report and evidence boundaries">
            <a:extLst xmlns:a="http://schemas.openxmlformats.org/drawingml/2006/main">
              <a:ext uri="{FF2B5EF4-FFF2-40B4-BE49-F238E27FC236}">
                <a16:creationId xmlns:a16="http://schemas.microsoft.com/office/drawing/2014/main" id="{1EF0381F-CD3A-408D-8054-873905F8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Performance report and evidence boundaries</a:t>
            </a:r>
          </a:p>
        </p:txBody>
      </p:sp>
      <p:sp>
        <p:nvSpPr>
          <p:cNvPr id="144" name="OpsCrew  /  Competition proposal  /  11">
            <a:extLst xmlns:a="http://schemas.openxmlformats.org/drawingml/2006/main">
              <a:ext uri="{FF2B5EF4-FFF2-40B4-BE49-F238E27FC236}">
                <a16:creationId xmlns:a16="http://schemas.microsoft.com/office/drawing/2014/main" id="{912A3E31-782E-42F2-9369-EADE3B96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Competition proposal  /  11</a:t>
            </a:r>
          </a:p>
        </p:txBody>
      </p:sp>
      <p:graphicFrame>
        <p:nvGraphicFrame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7F2DAF6C-C918-4B19-AE58-A1E413282D4D}"/>
              </a:ext>
            </a:extLst>
          </p:cNvPr>
          <p:cNvGraphicFramePr/>
          <p:nvPr/>
        </p:nvGraphicFramePr>
        <p:xfrm>
          <a:off xmlns:a="http://schemas.openxmlformats.org/drawingml/2006/main" x="342900" y="1314450"/>
          <a:ext xmlns:a="http://schemas.openxmlformats.org/drawingml/2006/main" cx="8458200" cy="2876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1504950"/>
                <a:gridCol w="4429125"/>
              </a:tblGrid>
              <a:tr h="479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Evidence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T w="9525">
                      <a:solidFill>
                        <a:srgbClr val="D3DDE2"/>
                      </a:solidFill>
                      <a:prstDash val="solid"/>
                    </a:lnT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Result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T w="9525">
                      <a:solidFill>
                        <a:srgbClr val="D3DDE2"/>
                      </a:solidFill>
                      <a:prstDash val="solid"/>
                    </a:lnT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Method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T w="9525">
                      <a:solidFill>
                        <a:srgbClr val="D3DDE2"/>
                      </a:solidFill>
                      <a:prstDash val="solid"/>
                    </a:lnT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Historical cloud core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11 / 11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3.1 Flash-Lite Developer API, 13 Oct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Historical cloud safety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14 / 14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13 Oct, includes overlapping core checks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Historical real workflows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3 public cases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3.1 Flash-Lite, 13 Oct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Offline engineering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246 / 246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2026-10-16 local regressions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Native artifact checks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12 groups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9 HTTP checks included, 2026-10-16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6" name="13 October workflow observations: 8.381-12.042 s, ">
            <a:extLst xmlns:a="http://schemas.openxmlformats.org/drawingml/2006/main">
              <a:ext uri="{FF2B5EF4-FFF2-40B4-BE49-F238E27FC236}">
                <a16:creationId xmlns:a16="http://schemas.microsoft.com/office/drawing/2014/main" id="{554CF050-2AFC-4A77-A288-288A8C0C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43400"/>
            <a:ext cx="8458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13 October workflow observations: 8.381-12.042 s, including recovery from one 503. These results do not certify the current Vertex backend, an SLA or independent held-out acceptance.</a:t>
            </a:r>
          </a:p>
        </p:txBody>
      </p:sp>
    </p:spTree>
    <p:extLst>
      <p:ext uri="{BB962C8B-B14F-4D97-AF65-F5344CB8AC3E}">
        <p14:creationId xmlns:p14="http://schemas.microsoft.com/office/powerpoint/2010/main" val="7049708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8" name="Google Shape;148;p25">
            <a:extLst xmlns:a="http://schemas.openxmlformats.org/drawingml/2006/main">
              <a:ext uri="{FF2B5EF4-FFF2-40B4-BE49-F238E27FC236}">
                <a16:creationId xmlns:a16="http://schemas.microsoft.com/office/drawing/2014/main" id="{372533CE-E314-48F9-BD70-A2F14B63F3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5c2872a0ad54151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F753E471-AAC5-4813-BC54-C1429AD3B0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99283b50644b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589F3EE4-1335-4ECB-A55C-DEEF02F8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Additional details and future development">
            <a:extLst xmlns:a="http://schemas.openxmlformats.org/drawingml/2006/main">
              <a:ext uri="{FF2B5EF4-FFF2-40B4-BE49-F238E27FC236}">
                <a16:creationId xmlns:a16="http://schemas.microsoft.com/office/drawing/2014/main" id="{B76C549D-5585-436B-89ED-4D1A894B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Additional details and future development</a:t>
            </a:r>
          </a:p>
        </p:txBody>
      </p:sp>
      <p:sp>
        <p:nvSpPr>
          <p:cNvPr id="152" name="OpsCrew  /  Competition proposal  /  12">
            <a:extLst xmlns:a="http://schemas.openxmlformats.org/drawingml/2006/main">
              <a:ext uri="{FF2B5EF4-FFF2-40B4-BE49-F238E27FC236}">
                <a16:creationId xmlns:a16="http://schemas.microsoft.com/office/drawing/2014/main" id="{38F997C8-6BC2-44E0-A26F-C5C362C2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Competition proposal  /  12</a:t>
            </a:r>
          </a:p>
        </p:txBody>
      </p:sp>
      <p:sp>
        <p:nvSpPr>
          <p:cNvPr id="153" name="Extend deployment operations checks and provider r">
            <a:extLst xmlns:a="http://schemas.openxmlformats.org/drawingml/2006/main">
              <a:ext uri="{FF2B5EF4-FFF2-40B4-BE49-F238E27FC236}">
                <a16:creationId xmlns:a16="http://schemas.microsoft.com/office/drawing/2014/main" id="{97FFB4D5-CCD0-4B9D-ADCC-7B8A425D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57300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Extend deployment operations checks and provider regression coverage. The retained real-model API evidence is dated 13 October; current provider switching has separate offline tests.</a:t>
            </a:r>
          </a:p>
        </p:txBody>
      </p:sp>
      <p:sp>
        <p:nvSpPr>
          <p:cNvPr id="154" name="Current evidence uses public synthetic examples. I">
            <a:extLst xmlns:a="http://schemas.openxmlformats.org/drawingml/2006/main">
              <a:ext uri="{FF2B5EF4-FFF2-40B4-BE49-F238E27FC236}">
                <a16:creationId xmlns:a16="http://schemas.microsoft.com/office/drawing/2014/main" id="{3F6E18B5-E4FE-4995-B4EF-E2BB52E1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85975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Current evidence uses public synthetic examples. Independent held-out evaluation and staff timing studies remain future validation work.</a:t>
            </a:r>
          </a:p>
        </p:txBody>
      </p:sp>
      <p:sp>
        <p:nvSpPr>
          <p:cNvPr id="155" name="The demonstration presents recorded interface oper">
            <a:extLst xmlns:a="http://schemas.openxmlformats.org/drawingml/2006/main">
              <a:ext uri="{FF2B5EF4-FFF2-40B4-BE49-F238E27FC236}">
                <a16:creationId xmlns:a16="http://schemas.microsoft.com/office/drawing/2014/main" id="{98858E4E-279D-4503-9A7A-616F1F61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914650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The demonstration presents recorded interface operation with English narration, synthetic data and disclosed edits. A person reviews each eligible plan before creating its case.</a:t>
            </a:r>
          </a:p>
        </p:txBody>
      </p:sp>
      <p:sp>
        <p:nvSpPr>
          <p:cNvPr id="156" name="After evaluation, consider broader policies and st">
            <a:extLst xmlns:a="http://schemas.openxmlformats.org/drawingml/2006/main">
              <a:ext uri="{FF2B5EF4-FFF2-40B4-BE49-F238E27FC236}">
                <a16:creationId xmlns:a16="http://schemas.microsoft.com/office/drawing/2014/main" id="{4649A12F-8DB7-4BA0-869C-E0053187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743325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After evaluation, consider broader policies and staff timing studies. Production reimbursement integrations require a separate design and authorization.</a:t>
            </a:r>
          </a:p>
        </p:txBody>
      </p:sp>
    </p:spTree>
    <p:extLst>
      <p:ext uri="{BB962C8B-B14F-4D97-AF65-F5344CB8AC3E}">
        <p14:creationId xmlns:p14="http://schemas.microsoft.com/office/powerpoint/2010/main" val="60353862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6" name="Google Shape;156;p26">
            <a:extLst xmlns:a="http://schemas.openxmlformats.org/drawingml/2006/main">
              <a:ext uri="{FF2B5EF4-FFF2-40B4-BE49-F238E27FC236}">
                <a16:creationId xmlns:a16="http://schemas.microsoft.com/office/drawing/2014/main" id="{BE5F6C6C-21D6-4507-B4F4-CACE25EC27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b5ae6cbfd540c0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7" name="Google Shape;157;p26">
            <a:extLst xmlns:a="http://schemas.openxmlformats.org/drawingml/2006/main">
              <a:ext uri="{FF2B5EF4-FFF2-40B4-BE49-F238E27FC236}">
                <a16:creationId xmlns:a16="http://schemas.microsoft.com/office/drawing/2014/main" id="{7F6029B5-63C8-4C59-955A-AF9C904328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0e5ff14f3c4a1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42B4F59F-3760-4E71-869D-D1C4750A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Repository, demo and final product links">
            <a:extLst xmlns:a="http://schemas.openxmlformats.org/drawingml/2006/main">
              <a:ext uri="{FF2B5EF4-FFF2-40B4-BE49-F238E27FC236}">
                <a16:creationId xmlns:a16="http://schemas.microsoft.com/office/drawing/2014/main" id="{67E8FA77-A5EE-44AE-B618-2FAE46B7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Repository, demo and final product links</a:t>
            </a:r>
          </a:p>
        </p:txBody>
      </p:sp>
      <p:sp>
        <p:nvSpPr>
          <p:cNvPr id="160" name="OpsCrew  /  Competition proposal  /  13">
            <a:extLst xmlns:a="http://schemas.openxmlformats.org/drawingml/2006/main">
              <a:ext uri="{FF2B5EF4-FFF2-40B4-BE49-F238E27FC236}">
                <a16:creationId xmlns:a16="http://schemas.microsoft.com/office/drawing/2014/main" id="{F2115F9E-D348-479F-B9F6-42AE090A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Competition proposal  /  13</a:t>
            </a:r>
          </a:p>
        </p:txBody>
      </p:sp>
      <p:sp>
        <p:nvSpPr>
          <p:cNvPr id="161" name="Public GitHub repository">
            <a:extLst xmlns:a="http://schemas.openxmlformats.org/drawingml/2006/main">
              <a:ext uri="{FF2B5EF4-FFF2-40B4-BE49-F238E27FC236}">
                <a16:creationId xmlns:a16="http://schemas.microsoft.com/office/drawing/2014/main" id="{5E7E1A24-1DF7-44D2-BE47-84297736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95400"/>
            <a:ext cx="8458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  <a:hlinkClick xmlns:r="http://schemas.openxmlformats.org/officeDocument/2006/relationships" r:id="Rfeaa737b42a746c0"/>
              </a:rPr>
              <a:t>Public GitHub repository</a:t>
            </a:r>
          </a:p>
        </p:txBody>
      </p:sp>
      <p:sp>
        <p:nvSpPr>
          <p:cNvPr id="162" name="github.com/sundaylee3100-ljl/AI-Builder-Cup-2026-O">
            <a:extLst xmlns:a="http://schemas.openxmlformats.org/drawingml/2006/main">
              <a:ext uri="{FF2B5EF4-FFF2-40B4-BE49-F238E27FC236}">
                <a16:creationId xmlns:a16="http://schemas.microsoft.com/office/drawing/2014/main" id="{9112637F-0A73-4473-B95D-D077D936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85925"/>
            <a:ext cx="845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github.com/sundaylee3100-ljl/AI-Builder-Cup-2026-OpsCrew</a:t>
            </a:r>
          </a:p>
        </p:txBody>
      </p:sp>
      <p:sp>
        <p:nvSpPr>
          <p:cNvPr id="163" name="Cloud product URL">
            <a:extLst xmlns:a="http://schemas.openxmlformats.org/drawingml/2006/main">
              <a:ext uri="{FF2B5EF4-FFF2-40B4-BE49-F238E27FC236}">
                <a16:creationId xmlns:a16="http://schemas.microsoft.com/office/drawing/2014/main" id="{F28C763B-45E8-41E4-8D77-9B741D0D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28850"/>
            <a:ext cx="8458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  <a:hlinkClick xmlns:r="http://schemas.openxmlformats.org/officeDocument/2006/relationships" r:id="R462f9f86eef54aed"/>
              </a:rPr>
              <a:t>Cloud product URL</a:t>
            </a:r>
          </a:p>
        </p:txBody>
      </p:sp>
      <p:sp>
        <p:nvSpPr>
          <p:cNvPr id="164" name="https://opscrew-883881551915.us-central1.run.app">
            <a:extLst xmlns:a="http://schemas.openxmlformats.org/drawingml/2006/main">
              <a:ext uri="{FF2B5EF4-FFF2-40B4-BE49-F238E27FC236}">
                <a16:creationId xmlns:a16="http://schemas.microsoft.com/office/drawing/2014/main" id="{64493C7D-691D-43C7-B03B-AE11539F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09850"/>
            <a:ext cx="845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https://opscrew-883881551915.us-central1.run.app</a:t>
            </a:r>
          </a:p>
        </p:txBody>
      </p:sp>
      <p:sp>
        <p:nvSpPr>
          <p:cNvPr id="165" name="Demo video">
            <a:extLst xmlns:a="http://schemas.openxmlformats.org/drawingml/2006/main">
              <a:ext uri="{FF2B5EF4-FFF2-40B4-BE49-F238E27FC236}">
                <a16:creationId xmlns:a16="http://schemas.microsoft.com/office/drawing/2014/main" id="{0BF364F5-9147-49E0-916B-F666D13D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09925"/>
            <a:ext cx="845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  <a:hlinkClick xmlns:r="http://schemas.openxmlformats.org/officeDocument/2006/relationships" r:id="Raae325f95cd745bc"/>
              </a:rPr>
              <a:t>Demo video</a:t>
            </a:r>
          </a:p>
        </p:txBody>
      </p:sp>
      <p:sp>
        <p:nvSpPr>
          <p:cNvPr id="166" name="https://youtu.be/j94ffx_yrng">
            <a:extLst xmlns:a="http://schemas.openxmlformats.org/drawingml/2006/main">
              <a:ext uri="{FF2B5EF4-FFF2-40B4-BE49-F238E27FC236}">
                <a16:creationId xmlns:a16="http://schemas.microsoft.com/office/drawing/2014/main" id="{5E45C69E-51BA-46A6-9613-9132B118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600450"/>
            <a:ext cx="845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https://youtu.be/j94ffx_yrng</a:t>
            </a:r>
          </a:p>
        </p:txBody>
      </p:sp>
      <p:sp>
        <p:nvSpPr>
          <p:cNvPr id="167" name="Created in Google AI Studio Build on 7 October. Hi">
            <a:extLst xmlns:a="http://schemas.openxmlformats.org/drawingml/2006/main">
              <a:ext uri="{FF2B5EF4-FFF2-40B4-BE49-F238E27FC236}">
                <a16:creationId xmlns:a16="http://schemas.microsoft.com/office/drawing/2014/main" id="{0BA01EA6-2449-4884-B413-84BC5E26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219575"/>
            <a:ext cx="845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Created in Google AI Studio Build on 7 October. Historical cloud API evidence: 13 October. Integrated offline checks: 2026-10-16.</a:t>
            </a:r>
          </a:p>
        </p:txBody>
      </p:sp>
    </p:spTree>
    <p:extLst>
      <p:ext uri="{BB962C8B-B14F-4D97-AF65-F5344CB8AC3E}">
        <p14:creationId xmlns:p14="http://schemas.microsoft.com/office/powerpoint/2010/main" val="762103316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2026-10-16T06:18:45.7140000Z</dcterms:created>
  <dcterms:modified xsi:type="dcterms:W3CDTF">2026-10-16T06:18:45.7140000Z</dcterms:modified>
</coreProperties>
</file>