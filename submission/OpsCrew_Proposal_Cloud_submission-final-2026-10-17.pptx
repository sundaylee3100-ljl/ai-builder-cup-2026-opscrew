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3fd14645e64240" /><Relationship Type="http://schemas.openxmlformats.org/officeDocument/2006/relationships/extended-properties" Target="/docProps/app.xml" Id="Reab1323535ce472b" /><Relationship Type="http://schemas.openxmlformats.org/officeDocument/2006/relationships/officeDocument" Target="/ppt/presentation.xml" Id="Rff4ccc059e0649e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6947b8ae2b04780"/>
  </p:sldMasterIdLst>
  <p:notesMasterIdLst>
    <p:notesMasterId xmlns:r="http://schemas.openxmlformats.org/officeDocument/2006/relationships" r:id="Re66b1fe6633243cb"/>
  </p:notesMasterIdLst>
  <p:sldIdLst>
    <p:sldId xmlns:r="http://schemas.openxmlformats.org/officeDocument/2006/relationships" id="256" r:id="R463aca215d5a42c1"/>
    <p:sldId xmlns:r="http://schemas.openxmlformats.org/officeDocument/2006/relationships" id="257" r:id="Rfe1147b179d34b60"/>
    <p:sldId xmlns:r="http://schemas.openxmlformats.org/officeDocument/2006/relationships" id="258" r:id="R3c2734dd1d4c48f5"/>
    <p:sldId xmlns:r="http://schemas.openxmlformats.org/officeDocument/2006/relationships" id="259" r:id="Ra5f71e3f8a524a7f"/>
    <p:sldId xmlns:r="http://schemas.openxmlformats.org/officeDocument/2006/relationships" id="260" r:id="R279d29e303e040d1"/>
    <p:sldId xmlns:r="http://schemas.openxmlformats.org/officeDocument/2006/relationships" id="261" r:id="Ra0fb1ef1d062475a"/>
    <p:sldId xmlns:r="http://schemas.openxmlformats.org/officeDocument/2006/relationships" id="262" r:id="Rf502fb3487b54e87"/>
    <p:sldId xmlns:r="http://schemas.openxmlformats.org/officeDocument/2006/relationships" id="263" r:id="R8e13d19db90249db"/>
    <p:sldId xmlns:r="http://schemas.openxmlformats.org/officeDocument/2006/relationships" id="264" r:id="Rd370b01fac0041e9"/>
    <p:sldId xmlns:r="http://schemas.openxmlformats.org/officeDocument/2006/relationships" id="265" r:id="Rec570a0241a94f0f"/>
    <p:sldId xmlns:r="http://schemas.openxmlformats.org/officeDocument/2006/relationships" id="266" r:id="R887e9f63621748d1"/>
    <p:sldId xmlns:r="http://schemas.openxmlformats.org/officeDocument/2006/relationships" id="267" r:id="R1b7b02703c414dd6"/>
    <p:sldId xmlns:r="http://schemas.openxmlformats.org/officeDocument/2006/relationships" id="268" r:id="R92a01ecbfa154590"/>
  </p:sldIdLst>
  <p:sldSz cx="9144000" cy="5143500"/>
  <p:notesSz cx="6858000" cy="9144000"/>
  <p:embeddedFontLst>
    <p:embeddedFont>
      <p:font typeface="Google Sans Flex Medium"/>
      <p:regular xmlns:r="http://schemas.openxmlformats.org/officeDocument/2006/relationships" r:id="R42ba572d585d448d"/>
      <p:bold xmlns:r="http://schemas.openxmlformats.org/officeDocument/2006/relationships" r:id="Rc1dac73c518248b3"/>
    </p:embeddedFont>
    <p:embeddedFont>
      <p:font typeface="Google Sans Flex"/>
      <p:regular xmlns:r="http://schemas.openxmlformats.org/officeDocument/2006/relationships" r:id="R3a55578e66c54a63"/>
      <p:bold xmlns:r="http://schemas.openxmlformats.org/officeDocument/2006/relationships" r:id="Rfd51b73291e14063"/>
    </p:embeddedFont>
    <p:embeddedFont>
      <p:font typeface="Google Sans Flex SemiBold"/>
      <p:regular xmlns:r="http://schemas.openxmlformats.org/officeDocument/2006/relationships" r:id="R74fc2f15946b42c3"/>
      <p:bold xmlns:r="http://schemas.openxmlformats.org/officeDocument/2006/relationships" r:id="R353a78217e884411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58e4eccc0d4e41" /><Relationship Type="http://schemas.openxmlformats.org/officeDocument/2006/relationships/slideMaster" Target="/ppt/slideMasters/slideMaster1.xml" Id="R66947b8ae2b04780" /><Relationship Type="http://schemas.openxmlformats.org/officeDocument/2006/relationships/notesMaster" Target="/ppt/notesMasters/notesMaster1.xml" Id="Re66b1fe6633243cb" /><Relationship Type="http://schemas.openxmlformats.org/officeDocument/2006/relationships/presProps" Target="/ppt/presProps.xml" Id="R727a79e82a49448a" /><Relationship Type="http://schemas.openxmlformats.org/officeDocument/2006/relationships/viewProps" Target="/ppt/viewProps.xml" Id="R5040d8853cbf4e7f" /><Relationship Type="http://schemas.openxmlformats.org/officeDocument/2006/relationships/tableStyles" Target="/ppt/tableStyles.xml" Id="R8724ad52e60c4e05" /><Relationship Type="http://schemas.openxmlformats.org/officeDocument/2006/relationships/font" Target="/ppt/fonts/font.dat" Id="R42ba572d585d448d" /><Relationship Type="http://schemas.openxmlformats.org/officeDocument/2006/relationships/font" Target="/ppt/fonts/font2.dat" Id="Rc1dac73c518248b3" /><Relationship Type="http://schemas.openxmlformats.org/officeDocument/2006/relationships/font" Target="/ppt/fonts/font3.dat" Id="R3a55578e66c54a63" /><Relationship Type="http://schemas.openxmlformats.org/officeDocument/2006/relationships/font" Target="/ppt/fonts/font4.dat" Id="Rfd51b73291e14063" /><Relationship Type="http://schemas.openxmlformats.org/officeDocument/2006/relationships/font" Target="/ppt/fonts/font5.dat" Id="R74fc2f15946b42c3" /><Relationship Type="http://schemas.openxmlformats.org/officeDocument/2006/relationships/font" Target="/ppt/fonts/font6.dat" Id="R353a78217e884411" /><Relationship Type="http://schemas.openxmlformats.org/officeDocument/2006/relationships/slide" Target="/ppt/slides/slide1.xml" Id="R463aca215d5a42c1" /><Relationship Type="http://schemas.openxmlformats.org/officeDocument/2006/relationships/slide" Target="/ppt/slides/slide2.xml" Id="Rfe1147b179d34b60" /><Relationship Type="http://schemas.openxmlformats.org/officeDocument/2006/relationships/slide" Target="/ppt/slides/slide3.xml" Id="R3c2734dd1d4c48f5" /><Relationship Type="http://schemas.openxmlformats.org/officeDocument/2006/relationships/slide" Target="/ppt/slides/slide4.xml" Id="Ra5f71e3f8a524a7f" /><Relationship Type="http://schemas.openxmlformats.org/officeDocument/2006/relationships/slide" Target="/ppt/slides/slide5.xml" Id="R279d29e303e040d1" /><Relationship Type="http://schemas.openxmlformats.org/officeDocument/2006/relationships/slide" Target="/ppt/slides/slide6.xml" Id="Ra0fb1ef1d062475a" /><Relationship Type="http://schemas.openxmlformats.org/officeDocument/2006/relationships/slide" Target="/ppt/slides/slide7.xml" Id="Rf502fb3487b54e87" /><Relationship Type="http://schemas.openxmlformats.org/officeDocument/2006/relationships/slide" Target="/ppt/slides/slide8.xml" Id="R8e13d19db90249db" /><Relationship Type="http://schemas.openxmlformats.org/officeDocument/2006/relationships/slide" Target="/ppt/slides/slide9.xml" Id="Rd370b01fac0041e9" /><Relationship Type="http://schemas.openxmlformats.org/officeDocument/2006/relationships/slide" Target="/ppt/slides/slide10.xml" Id="Rec570a0241a94f0f" /><Relationship Type="http://schemas.openxmlformats.org/officeDocument/2006/relationships/slide" Target="/ppt/slides/slide11.xml" Id="R887e9f63621748d1" /><Relationship Type="http://schemas.openxmlformats.org/officeDocument/2006/relationships/slide" Target="/ppt/slides/slide12.xml" Id="R1b7b02703c414dd6" /><Relationship Type="http://schemas.openxmlformats.org/officeDocument/2006/relationships/slide" Target="/ppt/slides/slide13.xml" Id="R92a01ecbfa1545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78c2e0372646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013c60cd934880" /><Relationship Type="http://schemas.openxmlformats.org/officeDocument/2006/relationships/notesMaster" Target="/ppt/notesMasters/notesMaster1.xml" Id="Rdb7c262d7ea24d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6023451f554628" /><Relationship Type="http://schemas.openxmlformats.org/officeDocument/2006/relationships/notesMaster" Target="/ppt/notesMasters/notesMaster1.xml" Id="Ra32f817b8b9442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e84014172747b3" /><Relationship Type="http://schemas.openxmlformats.org/officeDocument/2006/relationships/notesMaster" Target="/ppt/notesMasters/notesMaster1.xml" Id="R992e13b931404a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53a19626ea43bc" /><Relationship Type="http://schemas.openxmlformats.org/officeDocument/2006/relationships/notesMaster" Target="/ppt/notesMasters/notesMaster1.xml" Id="Rca064b17c5394a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a6d571ad0e44cc" /><Relationship Type="http://schemas.openxmlformats.org/officeDocument/2006/relationships/notesMaster" Target="/ppt/notesMasters/notesMaster1.xml" Id="Rc0ace349c58c45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c6e2f5f94f4f53" /><Relationship Type="http://schemas.openxmlformats.org/officeDocument/2006/relationships/notesMaster" Target="/ppt/notesMasters/notesMaster1.xml" Id="Rc128008782904b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cd51e0f5da494e" /><Relationship Type="http://schemas.openxmlformats.org/officeDocument/2006/relationships/notesMaster" Target="/ppt/notesMasters/notesMaster1.xml" Id="R2ad07383576c4d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bc038fd2f144dd" /><Relationship Type="http://schemas.openxmlformats.org/officeDocument/2006/relationships/notesMaster" Target="/ppt/notesMasters/notesMaster1.xml" Id="R764a3164c9e943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589c5a777a411c" /><Relationship Type="http://schemas.openxmlformats.org/officeDocument/2006/relationships/notesMaster" Target="/ppt/notesMasters/notesMaster1.xml" Id="R4ff4431a6bcd41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f407c5b4484f02" /><Relationship Type="http://schemas.openxmlformats.org/officeDocument/2006/relationships/notesMaster" Target="/ppt/notesMasters/notesMaster1.xml" Id="R758d51aeb7ba4f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0b7a81ae5f43bc" /><Relationship Type="http://schemas.openxmlformats.org/officeDocument/2006/relationships/notesMaster" Target="/ppt/notesMasters/notesMaster1.xml" Id="R94c6c32d743145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a56fae66b24180" /><Relationship Type="http://schemas.openxmlformats.org/officeDocument/2006/relationships/notesMaster" Target="/ppt/notesMasters/notesMaster1.xml" Id="Rc9198c5dda294b7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e83f293ea34c61" /><Relationship Type="http://schemas.openxmlformats.org/officeDocument/2006/relationships/notesMaster" Target="/ppt/notesMasters/notesMaster1.xml" Id="Rcab617b4dbe648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Public captain name, when provided, comes from the owner. Eligibility and registration declarations remain the authorized team's responsibility.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https://aibuildercup.com/themes.html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Fresh Google AI Studio Build creation on 7 October. Logo supplied by owner as Gemini-generated. The owner reports that the teammate used Google Antigravity to assist Cloud deployment; this is tool attribution, not automated deployment-source attestation.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https://aibuildercup.com/themes.html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SCOPE.md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docs/POLICY_AND_CONTRACTS.md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SCOPE.md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docs/POLICY_AND_CONTRACTS.md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docs/EVALUATION_PROTOCOL.md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docs/acceptance/S03-confirmation-and-cases.md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docs/PRECLOUD_BACKEND.md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src/domain/workflow.ts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docs/S3_CONFIRMATION_CASES.md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docs/PRECLOUD_BACKEND.md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docs/acceptance/S03-confirmation-and-cases.md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docs/acceptance/FINAL-video-ui-plan-2026-10-16.png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docs/acceptance/FINAL-integrated-validation-2026-10-16.json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docs/acceptance/FINAL-cloud-readonly-2026-10-16.json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aistudio-export-2026-10-07/server/runtime-config.ts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aistudio-export-2026-10-07/server/planning-service.ts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PROVENANCE.md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docs/acceptance/FINAL-integrated-validation-2026-10-16.json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docs/acceptance/FINAL-cloud-readonly-2026-10-16.json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aistudio-export-2026-10-07/server/runtime-config.ts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docs/DELIVERY_WORKBOARD.md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docs/PRECLOUD_BACKEND.md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docs/EVALUATION_PROTOCOL.md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docs/acceptance/DELIVERY-cloud-G3-2026-10-13.json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docs/acceptance/DELIVERY-cloud-safety-and-fixtures-2026-10-13.json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docs/acceptance/FINAL-video-ui-savedcase-2026-10-16.png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docs/acceptance/FINAL-integrated-validation-2026-10-16.json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docs/acceptance/DELIVERY-cloud-G3-2026-10-13.json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docs/acceptance/DELIVERY-cloud-safety-and-fixtures-2026-10-13.json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docs/PRECLOUD_EVALUATION.md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docs/CLOUD_TEAMMATE_HANDOFF.md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docs/EVALUATION_PROTOCOL.md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SUBMISSION_CHECKLIST.md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https://github.com/sundaylee3100-ljl/AI-Builder-Cup-2026-OpsCrew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SUBMISSION_CHECKLIST.md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submission/RECORDING_PLAN.md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ed763b2f1743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d82e72039f44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2f93f7f1af41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16e14a73fb420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a4e3eb1054e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f4ae2969804b3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295bfd7d6245d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c591dbb86b4ac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c9bb2e715f4ed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5dc86235bd413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25dd7aa8d4015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6708E0F6-85F6-43D7-9797-7937D16BFD6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D04E7282-DD77-4497-892C-A201B9F7A4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8CF4FB66-2BA4-4720-BC3D-86B6F742D9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2B11ACCF-8D80-4AB4-A300-BF1E210B29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43A7B84C-9563-4E2D-99B0-01FB882916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02DD069C-6402-4539-B560-273C9CED72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9612E961-3AE2-41D3-A334-6497E4FB28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58B01436-54BF-4F47-8454-856C3F207A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DBAA3683-0BE2-4777-A636-543809C984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BF70F22C-2650-4797-90E2-CEA7A4C2F2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A0E49F40-B6C3-48BF-80C3-E1B0A65358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6E8C3315-4705-4712-927A-71260183DB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12E6BD7C-AB69-4373-A678-AD231A7803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99DD5FDB-73BF-4057-AADF-F4F1F36B18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DC8A6F66-F3F9-45A9-A500-5556FFEDE4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959F6B1C-EE8F-4030-9BA2-6219C244D4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108CA9D3-945A-48C7-8569-DFEA2C9332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0CDB6CA4-D71B-42C8-A09B-F0818948AE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B58E7B7D-6EC2-4F04-AEC6-8D1393FF2E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CE4200AA-FCD1-44E2-8307-D95D8362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3D73BEF7-24BA-4815-BB87-BAEDA9282D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16C0E648-5C2C-46E9-8F7C-476FCE4A58B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0D17FC7A-8D7B-4655-B9BA-0EA23EA7C9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BAD097A7-0E14-45C7-A29F-E060D00A62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CF955979-FF0B-4F0F-8848-DFF33F217F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60CEE67F-61BE-441C-AC26-B51D30E872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79E58898-9D2B-491E-AFBD-44523012C51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B59965A5-2E66-4B66-98DE-7859FF3D7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DE60713B-DB07-48C4-AD8E-4E1838D252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2FE59724-CA93-4618-8D93-B2DCC2E286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0858b8cc144785" /><Relationship Type="http://schemas.openxmlformats.org/officeDocument/2006/relationships/slideLayout" Target="/ppt/slideLayouts/slideLayout1.xml" Id="R89509e81a04f4325" /><Relationship Type="http://schemas.openxmlformats.org/officeDocument/2006/relationships/slideLayout" Target="/ppt/slideLayouts/slideLayout2.xml" Id="Ra842c9ce5b814044" /><Relationship Type="http://schemas.openxmlformats.org/officeDocument/2006/relationships/slideLayout" Target="/ppt/slideLayouts/slideLayout3.xml" Id="Rc5a29b37d5434acd" /><Relationship Type="http://schemas.openxmlformats.org/officeDocument/2006/relationships/slideLayout" Target="/ppt/slideLayouts/slideLayout4.xml" Id="R2916bab97a5947df" /><Relationship Type="http://schemas.openxmlformats.org/officeDocument/2006/relationships/slideLayout" Target="/ppt/slideLayouts/slideLayout5.xml" Id="Ra0c270f0dd254e3a" /><Relationship Type="http://schemas.openxmlformats.org/officeDocument/2006/relationships/slideLayout" Target="/ppt/slideLayouts/slideLayout6.xml" Id="R1d273c1cbe8d44e2" /><Relationship Type="http://schemas.openxmlformats.org/officeDocument/2006/relationships/slideLayout" Target="/ppt/slideLayouts/slideLayout7.xml" Id="Re76aafa499ad4e0f" /><Relationship Type="http://schemas.openxmlformats.org/officeDocument/2006/relationships/slideLayout" Target="/ppt/slideLayouts/slideLayout8.xml" Id="R24b1993f9e754984" /><Relationship Type="http://schemas.openxmlformats.org/officeDocument/2006/relationships/slideLayout" Target="/ppt/slideLayouts/slideLayout9.xml" Id="Rca5e92d5ff954a3c" /><Relationship Type="http://schemas.openxmlformats.org/officeDocument/2006/relationships/slideLayout" Target="/ppt/slideLayouts/slideLayout10.xml" Id="R3c7fede00b574082" /><Relationship Type="http://schemas.openxmlformats.org/officeDocument/2006/relationships/slideLayout" Target="/ppt/slideLayouts/slideLayout11.xml" Id="Rf0469c071422412b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B9E6C86F-3A14-47E0-9E4F-20357FE639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47AD8991-33D6-4316-9C58-3A35E1B106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B5DB276E-BC90-4E74-B6A3-82489E2482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509e81a04f4325"/>
    <p:sldLayoutId xmlns:r="http://schemas.openxmlformats.org/officeDocument/2006/relationships" id="2147483650" r:id="Ra842c9ce5b814044"/>
    <p:sldLayoutId xmlns:r="http://schemas.openxmlformats.org/officeDocument/2006/relationships" id="2147483651" r:id="Rc5a29b37d5434acd"/>
    <p:sldLayoutId xmlns:r="http://schemas.openxmlformats.org/officeDocument/2006/relationships" id="2147483652" r:id="R2916bab97a5947df"/>
    <p:sldLayoutId xmlns:r="http://schemas.openxmlformats.org/officeDocument/2006/relationships" id="2147483653" r:id="Ra0c270f0dd254e3a"/>
    <p:sldLayoutId xmlns:r="http://schemas.openxmlformats.org/officeDocument/2006/relationships" id="2147483654" r:id="R1d273c1cbe8d44e2"/>
    <p:sldLayoutId xmlns:r="http://schemas.openxmlformats.org/officeDocument/2006/relationships" id="2147483655" r:id="Re76aafa499ad4e0f"/>
    <p:sldLayoutId xmlns:r="http://schemas.openxmlformats.org/officeDocument/2006/relationships" id="2147483656" r:id="R24b1993f9e754984"/>
    <p:sldLayoutId xmlns:r="http://schemas.openxmlformats.org/officeDocument/2006/relationships" id="2147483657" r:id="Rca5e92d5ff954a3c"/>
    <p:sldLayoutId xmlns:r="http://schemas.openxmlformats.org/officeDocument/2006/relationships" id="2147483658" r:id="R3c7fede00b574082"/>
    <p:sldLayoutId xmlns:r="http://schemas.openxmlformats.org/officeDocument/2006/relationships" id="2147483659" r:id="Rf0469c071422412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ec43601054dbc" /><Relationship Type="http://schemas.openxmlformats.org/officeDocument/2006/relationships/image" Target="/ppt/media/image.png" Id="R262fe15b274c4dae" /><Relationship Type="http://schemas.openxmlformats.org/officeDocument/2006/relationships/image" Target="/ppt/media/image2.png" Id="R2ce269eb9fcb4529" /><Relationship Type="http://schemas.openxmlformats.org/officeDocument/2006/relationships/image" Target="/ppt/media/image3.png" Id="R9bcfa3634cd14dd5" /><Relationship Type="http://schemas.openxmlformats.org/officeDocument/2006/relationships/notesSlide" Target="/ppt/notesSlides/notesSlide1.xml" Id="Rda3b153b069845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35c81ad914c52" /><Relationship Type="http://schemas.openxmlformats.org/officeDocument/2006/relationships/image" Target="/ppt/media/image4.png" Id="R48d29ca5d796454e" /><Relationship Type="http://schemas.openxmlformats.org/officeDocument/2006/relationships/notesSlide" Target="/ppt/notesSlides/notesSlide2.xml" Id="R8d2f22f4e7f347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2889ae3034953" /><Relationship Type="http://schemas.openxmlformats.org/officeDocument/2006/relationships/image" Target="/ppt/media/image2.png" Id="R37345042bfd842e5" /><Relationship Type="http://schemas.openxmlformats.org/officeDocument/2006/relationships/image" Target="/ppt/media/image4.png" Id="R0abbd824651447ef" /><Relationship Type="http://schemas.openxmlformats.org/officeDocument/2006/relationships/notesSlide" Target="/ppt/notesSlides/notesSlide3.xml" Id="Rf11700d342f44e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1a7cf0f0d4419" /><Relationship Type="http://schemas.openxmlformats.org/officeDocument/2006/relationships/image" Target="/ppt/media/image2.png" Id="Rdbcd06f1544241f5" /><Relationship Type="http://schemas.openxmlformats.org/officeDocument/2006/relationships/image" Target="/ppt/media/image4.png" Id="Re990950ac2924c8e" /><Relationship Type="http://schemas.openxmlformats.org/officeDocument/2006/relationships/notesSlide" Target="/ppt/notesSlides/notesSlide4.xml" Id="R13b1edddf5c744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cbb693d7144aa" /><Relationship Type="http://schemas.openxmlformats.org/officeDocument/2006/relationships/image" Target="/ppt/media/image2.png" Id="R8b07a89ff5754e74" /><Relationship Type="http://schemas.openxmlformats.org/officeDocument/2006/relationships/image" Target="/ppt/media/image4.png" Id="Rc33b168d31d946da" /><Relationship Type="http://schemas.openxmlformats.org/officeDocument/2006/relationships/notesSlide" Target="/ppt/notesSlides/notesSlide5.xml" Id="R49b5649afeda4b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d64fee1814f41" /><Relationship Type="http://schemas.openxmlformats.org/officeDocument/2006/relationships/image" Target="/ppt/media/image2.png" Id="R7397c848d2b64284" /><Relationship Type="http://schemas.openxmlformats.org/officeDocument/2006/relationships/image" Target="/ppt/media/image4.png" Id="R6b1b65da549f43bb" /><Relationship Type="http://schemas.openxmlformats.org/officeDocument/2006/relationships/image" Target="/ppt/media/image5.png" Id="Rd430e9b6962b477b" /><Relationship Type="http://schemas.openxmlformats.org/officeDocument/2006/relationships/notesSlide" Target="/ppt/notesSlides/notesSlide6.xml" Id="R4db521728acc4f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f961f9c694fbe" /><Relationship Type="http://schemas.openxmlformats.org/officeDocument/2006/relationships/image" Target="/ppt/media/image2.png" Id="R78af26e585b54cd7" /><Relationship Type="http://schemas.openxmlformats.org/officeDocument/2006/relationships/image" Target="/ppt/media/image4.png" Id="Rd450b20124f54c55" /><Relationship Type="http://schemas.openxmlformats.org/officeDocument/2006/relationships/notesSlide" Target="/ppt/notesSlides/notesSlide7.xml" Id="R41f569775a704d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1436631334c99" /><Relationship Type="http://schemas.openxmlformats.org/officeDocument/2006/relationships/image" Target="/ppt/media/image2.png" Id="R25198e5cf97745a2" /><Relationship Type="http://schemas.openxmlformats.org/officeDocument/2006/relationships/image" Target="/ppt/media/image4.png" Id="R94321e389ea546fe" /><Relationship Type="http://schemas.openxmlformats.org/officeDocument/2006/relationships/notesSlide" Target="/ppt/notesSlides/notesSlide8.xml" Id="R24db7898b29d4a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8c47f38f6470a" /><Relationship Type="http://schemas.openxmlformats.org/officeDocument/2006/relationships/image" Target="/ppt/media/image2.png" Id="R90d885b03ac94190" /><Relationship Type="http://schemas.openxmlformats.org/officeDocument/2006/relationships/image" Target="/ppt/media/image4.png" Id="R3110ab62f16748ca" /><Relationship Type="http://schemas.openxmlformats.org/officeDocument/2006/relationships/notesSlide" Target="/ppt/notesSlides/notesSlide9.xml" Id="Rfc7ef2cd0a1a45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3739b8a2c4425" /><Relationship Type="http://schemas.openxmlformats.org/officeDocument/2006/relationships/image" Target="/ppt/media/image2.png" Id="Rb67ed8758e9d4ca3" /><Relationship Type="http://schemas.openxmlformats.org/officeDocument/2006/relationships/image" Target="/ppt/media/image4.png" Id="R79c88d26834140eb" /><Relationship Type="http://schemas.openxmlformats.org/officeDocument/2006/relationships/image" Target="/ppt/media/image6.png" Id="R4494551458314db8" /><Relationship Type="http://schemas.openxmlformats.org/officeDocument/2006/relationships/notesSlide" Target="/ppt/notesSlides/notesSlide10.xml" Id="R450a715e4efa40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3464f4dd94a23" /><Relationship Type="http://schemas.openxmlformats.org/officeDocument/2006/relationships/image" Target="/ppt/media/image2.png" Id="R9c1671d271284e79" /><Relationship Type="http://schemas.openxmlformats.org/officeDocument/2006/relationships/image" Target="/ppt/media/image4.png" Id="R5be8f49514fe4f65" /><Relationship Type="http://schemas.openxmlformats.org/officeDocument/2006/relationships/notesSlide" Target="/ppt/notesSlides/notesSlide11.xml" Id="R299d4c545a974d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6bde0f2d84593" /><Relationship Type="http://schemas.openxmlformats.org/officeDocument/2006/relationships/image" Target="/ppt/media/image2.png" Id="R48b72362f1084104" /><Relationship Type="http://schemas.openxmlformats.org/officeDocument/2006/relationships/image" Target="/ppt/media/image4.png" Id="Re3677ac20e234d88" /><Relationship Type="http://schemas.openxmlformats.org/officeDocument/2006/relationships/notesSlide" Target="/ppt/notesSlides/notesSlide12.xml" Id="Rb83aa6b9303a47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b47ac58524015" /><Relationship Type="http://schemas.openxmlformats.org/officeDocument/2006/relationships/image" Target="/ppt/media/image2.png" Id="R336cca34673f4c1b" /><Relationship Type="http://schemas.openxmlformats.org/officeDocument/2006/relationships/image" Target="/ppt/media/image4.png" Id="R36c3213ce40740a8" /><Relationship Type="http://schemas.openxmlformats.org/officeDocument/2006/relationships/hyperlink" Target="https://github.com/sundaylee3100-ljl/AI-Builder-Cup-2026-OpsCrew" TargetMode="External" Id="R8e77750b5ee64ac1" /><Relationship Type="http://schemas.openxmlformats.org/officeDocument/2006/relationships/hyperlink" Target="https://opscrew-883881551915.us-central1.run.app" TargetMode="External" Id="R9a7f6d585c0e4d11" /><Relationship Type="http://schemas.openxmlformats.org/officeDocument/2006/relationships/hyperlink" Target="https://youtu.be/rdbS1XUNUjw" TargetMode="External" Id="R7ed604b51ddc40de" /><Relationship Type="http://schemas.openxmlformats.org/officeDocument/2006/relationships/notesSlide" Target="/ppt/notesSlides/notesSlide13.xml" Id="Rc655e648482f4b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D8B2EBEE-2164-447B-8A64-0F47664F28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fe15b274c4da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"/>
            <a:ext cx="9144000" cy="27155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E47328F0-3DB3-4A68-91F9-814E424D40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e269eb9fcb4529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Team OpsCrew">
            <a:extLst xmlns:a="http://schemas.openxmlformats.org/drawingml/2006/main">
              <a:ext uri="{FF2B5EF4-FFF2-40B4-BE49-F238E27FC236}">
                <a16:creationId xmlns:a16="http://schemas.microsoft.com/office/drawing/2014/main" id="{9E7277A7-AFEA-41D3-8BCA-FA37F827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86075"/>
            <a:ext cx="708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2400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Team OpsCrew</a:t>
            </a:r>
          </a:p>
        </p:txBody>
      </p:sp>
      <p:sp>
        <p:nvSpPr>
          <p:cNvPr id="58" name="Expense exception plans with human confirmation">
            <a:extLst xmlns:a="http://schemas.openxmlformats.org/drawingml/2006/main">
              <a:ext uri="{FF2B5EF4-FFF2-40B4-BE49-F238E27FC236}">
                <a16:creationId xmlns:a16="http://schemas.microsoft.com/office/drawing/2014/main" id="{91C8A77C-5DAA-4591-879A-8711142C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381375"/>
            <a:ext cx="7000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Expense exception plans with human confirmation</a:t>
            </a:r>
          </a:p>
        </p:txBody>
      </p:sp>
      <p:sp>
        <p:nvSpPr>
          <p:cNvPr id="59" name="Captain: Sunday Lee&#10;Theme: Future of Work &amp; Enterp">
            <a:extLst xmlns:a="http://schemas.openxmlformats.org/drawingml/2006/main">
              <a:ext uri="{FF2B5EF4-FFF2-40B4-BE49-F238E27FC236}">
                <a16:creationId xmlns:a16="http://schemas.microsoft.com/office/drawing/2014/main" id="{AA07CD3B-F437-44D9-BDD1-3D42DD7F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76700"/>
            <a:ext cx="719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Captain: Sunday Lee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Theme: Future of Work &amp; Enterprise Productivity</a:t>
            </a:r>
          </a:p>
        </p:txBody>
      </p:sp>
      <p:sp>
        <p:nvSpPr>
          <p:cNvPr id="60" name="Competition proposal  /  17 October 2026">
            <a:extLst xmlns:a="http://schemas.openxmlformats.org/drawingml/2006/main">
              <a:ext uri="{FF2B5EF4-FFF2-40B4-BE49-F238E27FC236}">
                <a16:creationId xmlns:a16="http://schemas.microsoft.com/office/drawing/2014/main" id="{3B06DD39-AE08-442E-9C65-484C15A5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Competition proposal  /  17 October 2026</a:t>
            </a:r>
          </a:p>
        </p:txBody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33FC3E1-5BAF-44F1-8038-ECAC50809B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fa3634cd14dd5"/>
          <a:stretch xmlns:a="http://schemas.openxmlformats.org/drawingml/2006/main"/>
        </p:blipFill>
        <p:spPr>
          <a:xfrm xmlns:a="http://schemas.openxmlformats.org/drawingml/2006/main">
            <a:off x="7639050" y="3478054"/>
            <a:ext cx="1238250" cy="12258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0157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13960ED4-D6C2-434E-954A-1EEDC7C41B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29ca5d796454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781AF23B-EEFD-40FA-8586-C67FDD62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Brief about the idea">
            <a:extLst xmlns:a="http://schemas.openxmlformats.org/drawingml/2006/main">
              <a:ext uri="{FF2B5EF4-FFF2-40B4-BE49-F238E27FC236}">
                <a16:creationId xmlns:a16="http://schemas.microsoft.com/office/drawing/2014/main" id="{747F0BF9-6F06-4C62-A79C-664A0DFB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Brief about the idea</a:t>
            </a:r>
          </a:p>
        </p:txBody>
      </p:sp>
      <p:sp>
        <p:nvSpPr>
          <p:cNvPr id="72" name="OpsCrew  /  Competition proposal  /  2">
            <a:extLst xmlns:a="http://schemas.openxmlformats.org/drawingml/2006/main">
              <a:ext uri="{FF2B5EF4-FFF2-40B4-BE49-F238E27FC236}">
                <a16:creationId xmlns:a16="http://schemas.microsoft.com/office/drawing/2014/main" id="{5615E5D5-4C0A-437E-A1ED-401E0E76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2</a:t>
            </a:r>
          </a:p>
        </p:txBody>
      </p:sp>
      <p:sp>
        <p:nvSpPr>
          <p:cNvPr id="73" name="OpsCrew helps operations staff turn a synthetic ex">
            <a:extLst xmlns:a="http://schemas.openxmlformats.org/drawingml/2006/main">
              <a:ext uri="{FF2B5EF4-FFF2-40B4-BE49-F238E27FC236}">
                <a16:creationId xmlns:a16="http://schemas.microsoft.com/office/drawing/2014/main" id="{30D41AC6-79A0-4E99-9B2D-7908F5EB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57300"/>
            <a:ext cx="845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OpsCrew helps operations staff turn a synthetic expense exception into a supported handling plan.</a:t>
            </a:r>
          </a:p>
        </p:txBody>
      </p:sp>
      <p:sp>
        <p:nvSpPr>
          <p:cNvPr id="74" name="Gemini extracts facts, proposes steps, then review">
            <a:extLst xmlns:a="http://schemas.openxmlformats.org/drawingml/2006/main">
              <a:ext uri="{FF2B5EF4-FFF2-40B4-BE49-F238E27FC236}">
                <a16:creationId xmlns:a16="http://schemas.microsoft.com/office/drawing/2014/main" id="{16B51ABB-548F-44D4-B0D4-CBC9166B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76450"/>
            <a:ext cx="845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Gemini extracts facts, proposes steps, then reviews the proposal in a separate call. Fixed policy checks constrain each stage.</a:t>
            </a:r>
          </a:p>
        </p:txBody>
      </p:sp>
      <p:sp>
        <p:nvSpPr>
          <p:cNvPr id="75" name="A person reviews the current plan and explicitly c">
            <a:extLst xmlns:a="http://schemas.openxmlformats.org/drawingml/2006/main">
              <a:ext uri="{FF2B5EF4-FFF2-40B4-BE49-F238E27FC236}">
                <a16:creationId xmlns:a16="http://schemas.microsoft.com/office/drawing/2014/main" id="{A31DEA7E-B96F-4D07-A344-D40A50C5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95600"/>
            <a:ext cx="845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 person reviews the current plan and explicitly confirms a case. The app reads the saved record independently before showing success.</a:t>
            </a:r>
          </a:p>
        </p:txBody>
      </p:sp>
      <p:sp>
        <p:nvSpPr>
          <p:cNvPr id="76" name="The prototype covers one synthetic USD policy. It ">
            <a:extLst xmlns:a="http://schemas.openxmlformats.org/drawingml/2006/main">
              <a:ext uri="{FF2B5EF4-FFF2-40B4-BE49-F238E27FC236}">
                <a16:creationId xmlns:a16="http://schemas.microsoft.com/office/drawing/2014/main" id="{E761714A-13A5-46F8-A38B-9515D03D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14750"/>
            <a:ext cx="845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 prototype covers one synthetic USD policy. It creates handling records and performs no reimbursement or payment.</a:t>
            </a:r>
          </a:p>
        </p:txBody>
      </p:sp>
    </p:spTree>
    <p:extLst>
      <p:ext uri="{BB962C8B-B14F-4D97-AF65-F5344CB8AC3E}">
        <p14:creationId xmlns:p14="http://schemas.microsoft.com/office/powerpoint/2010/main" val="16886863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768E49C8-C9D2-459E-8895-5506064443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345042bfd842e5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EFC070D2-540F-48A6-B9ED-60709AEB51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bd824651447e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5C6044B6-BDD7-4A00-A1B7-B294C1BB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Opportunities and proposed value">
            <a:extLst xmlns:a="http://schemas.openxmlformats.org/drawingml/2006/main">
              <a:ext uri="{FF2B5EF4-FFF2-40B4-BE49-F238E27FC236}">
                <a16:creationId xmlns:a16="http://schemas.microsoft.com/office/drawing/2014/main" id="{7503CC14-0102-4172-BF3A-C34ACECA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Opportunities and proposed value</a:t>
            </a:r>
          </a:p>
        </p:txBody>
      </p:sp>
      <p:sp>
        <p:nvSpPr>
          <p:cNvPr id="80" name="OpsCrew  /  Competition proposal  /  3">
            <a:extLst xmlns:a="http://schemas.openxmlformats.org/drawingml/2006/main">
              <a:ext uri="{FF2B5EF4-FFF2-40B4-BE49-F238E27FC236}">
                <a16:creationId xmlns:a16="http://schemas.microsoft.com/office/drawing/2014/main" id="{A6A4B26A-2822-4ED1-8073-10C0369B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3</a:t>
            </a:r>
          </a:p>
        </p:txBody>
      </p:sp>
      <p:sp>
        <p:nvSpPr>
          <p:cNvPr id="81" name="Problem: staff must reconcile intake text, missing">
            <a:extLst xmlns:a="http://schemas.openxmlformats.org/drawingml/2006/main">
              <a:ext uri="{FF2B5EF4-FFF2-40B4-BE49-F238E27FC236}">
                <a16:creationId xmlns:a16="http://schemas.microsoft.com/office/drawing/2014/main" id="{23C5B65A-0184-4491-9CFA-91DF2F09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57300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Problem: staff must reconcile intake text, missing receipts and policy thresholds before deciding what to request next.</a:t>
            </a:r>
          </a:p>
        </p:txBody>
      </p:sp>
      <p:sp>
        <p:nvSpPr>
          <p:cNvPr id="82" name="Proposed difference: OpsCrew binds the plan to sup">
            <a:extLst xmlns:a="http://schemas.openxmlformats.org/drawingml/2006/main">
              <a:ext uri="{FF2B5EF4-FFF2-40B4-BE49-F238E27FC236}">
                <a16:creationId xmlns:a16="http://schemas.microsoft.com/office/drawing/2014/main" id="{52D7FC70-9454-4CCC-B101-1D555D25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85975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Proposed difference: OpsCrew binds the plan to supported facts and exact policy clauses, then stores the person's confirmation with that version.</a:t>
            </a:r>
          </a:p>
        </p:txBody>
      </p:sp>
      <p:sp>
        <p:nvSpPr>
          <p:cNvPr id="83" name="Design value: input edits invalidate old plans. Co">
            <a:extLst xmlns:a="http://schemas.openxmlformats.org/drawingml/2006/main">
              <a:ext uri="{FF2B5EF4-FFF2-40B4-BE49-F238E27FC236}">
                <a16:creationId xmlns:a16="http://schemas.microsoft.com/office/drawing/2014/main" id="{C95EE50F-8BBD-4A6C-9712-9A2D47FF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14650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Design value: input edits invalidate old plans. Contradictions and unsupported citations block case creation.</a:t>
            </a:r>
          </a:p>
        </p:txBody>
      </p:sp>
      <p:sp>
        <p:nvSpPr>
          <p:cNvPr id="84" name="Expected impact: clearer exception triage and fewe">
            <a:extLst xmlns:a="http://schemas.openxmlformats.org/drawingml/2006/main">
              <a:ext uri="{FF2B5EF4-FFF2-40B4-BE49-F238E27FC236}">
                <a16:creationId xmlns:a16="http://schemas.microsoft.com/office/drawing/2014/main" id="{8CD7217D-70C7-4305-835A-ACC3B16F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43325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Expected impact: clearer exception triage and fewer unsupported actions. Actual staff time savings and customer adoption remain unmeasured.</a:t>
            </a:r>
          </a:p>
        </p:txBody>
      </p:sp>
    </p:spTree>
    <p:extLst>
      <p:ext uri="{BB962C8B-B14F-4D97-AF65-F5344CB8AC3E}">
        <p14:creationId xmlns:p14="http://schemas.microsoft.com/office/powerpoint/2010/main" val="6850555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88C0F443-8ADD-48B0-A242-42D8B6DBE2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cd06f1544241f5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DEA1A190-B40B-40A8-8007-AC7FB6F3F3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0950ac2924c8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CB96D2E2-8FF4-4598-9518-963EF225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Features offered by the solution">
            <a:extLst xmlns:a="http://schemas.openxmlformats.org/drawingml/2006/main">
              <a:ext uri="{FF2B5EF4-FFF2-40B4-BE49-F238E27FC236}">
                <a16:creationId xmlns:a16="http://schemas.microsoft.com/office/drawing/2014/main" id="{153DD881-9797-4A6C-86B4-209E6168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Features offered by the solution</a:t>
            </a:r>
          </a:p>
        </p:txBody>
      </p:sp>
      <p:sp>
        <p:nvSpPr>
          <p:cNvPr id="88" name="OpsCrew  /  Competition proposal  /  4">
            <a:extLst xmlns:a="http://schemas.openxmlformats.org/drawingml/2006/main">
              <a:ext uri="{FF2B5EF4-FFF2-40B4-BE49-F238E27FC236}">
                <a16:creationId xmlns:a16="http://schemas.microsoft.com/office/drawing/2014/main" id="{B685AE51-674E-4A0C-8DD1-A6463572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4</a:t>
            </a:r>
          </a:p>
        </p:txBody>
      </p:sp>
      <p:sp>
        <p:nvSpPr>
          <p:cNvPr id="89" name="Synthetic presets and original text citations make">
            <a:extLst xmlns:a="http://schemas.openxmlformats.org/drawingml/2006/main">
              <a:ext uri="{FF2B5EF4-FFF2-40B4-BE49-F238E27FC236}">
                <a16:creationId xmlns:a16="http://schemas.microsoft.com/office/drawing/2014/main" id="{E7E2A366-1E27-4C66-9148-7A33D7AE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14450"/>
            <a:ext cx="845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Synthetic presets and original text citations make intake decisions inspectable.</a:t>
            </a:r>
          </a:p>
        </p:txBody>
      </p:sp>
      <p:sp>
        <p:nvSpPr>
          <p:cNvPr id="90" name="Facts, Planner and Reviewer outputs expose disagre">
            <a:extLst xmlns:a="http://schemas.openxmlformats.org/drawingml/2006/main">
              <a:ext uri="{FF2B5EF4-FFF2-40B4-BE49-F238E27FC236}">
                <a16:creationId xmlns:a16="http://schemas.microsoft.com/office/drawing/2014/main" id="{91C616AB-B283-4194-9556-2B14C6D2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14550"/>
            <a:ext cx="845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Facts, Planner and Reviewer outputs expose disagreements and exact policy evidence.</a:t>
            </a:r>
          </a:p>
        </p:txBody>
      </p:sp>
      <p:sp>
        <p:nvSpPr>
          <p:cNvPr id="91" name="Firebase visitor identity, owned history and versi">
            <a:extLst xmlns:a="http://schemas.openxmlformats.org/drawingml/2006/main">
              <a:ext uri="{FF2B5EF4-FFF2-40B4-BE49-F238E27FC236}">
                <a16:creationId xmlns:a16="http://schemas.microsoft.com/office/drawing/2014/main" id="{3FE6CAF4-A04E-4A97-9FEC-56178522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14650"/>
            <a:ext cx="845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Firebase visitor identity, owned history and version-bound confirmation protect each person's handling records.</a:t>
            </a:r>
          </a:p>
        </p:txBody>
      </p:sp>
      <p:sp>
        <p:nvSpPr>
          <p:cNvPr id="92" name="Atomic writes, idempotent recovery and independent">
            <a:extLst xmlns:a="http://schemas.openxmlformats.org/drawingml/2006/main">
              <a:ext uri="{FF2B5EF4-FFF2-40B4-BE49-F238E27FC236}">
                <a16:creationId xmlns:a16="http://schemas.microsoft.com/office/drawing/2014/main" id="{1913DED2-452F-491D-BA80-11D8E5FD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14750"/>
            <a:ext cx="845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Atomic writes, idempotent recovery and independent readback prevent duplicate or unverified success. Shared quotas bound model traffic.</a:t>
            </a:r>
          </a:p>
        </p:txBody>
      </p:sp>
    </p:spTree>
    <p:extLst>
      <p:ext uri="{BB962C8B-B14F-4D97-AF65-F5344CB8AC3E}">
        <p14:creationId xmlns:p14="http://schemas.microsoft.com/office/powerpoint/2010/main" val="2731567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3DDD2F2-FC1F-4445-AD62-BEEB51B189F5}"/>
              </a:ext>
            </a:extLst>
          </p:cNvPr>
          <p:cNvCxnSpPr>
            <a:stCxn xmlns:a="http://schemas.openxmlformats.org/drawingml/2006/main" id="99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7510463" y="2143125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7481"/>
            </a:solidFill>
            <a:prstDash val="solid"/>
            <a:tailEnd type="triangle" w="med" len="med"/>
          </a:ln>
        </p:spPr>
      </p:cxnSp>
      <p:pic>
        <p:nvPic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30E167B1-932C-4EAF-9352-344737D4FF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07a89ff5754e7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93;p18">
            <a:extLst xmlns:a="http://schemas.openxmlformats.org/drawingml/2006/main">
              <a:ext uri="{FF2B5EF4-FFF2-40B4-BE49-F238E27FC236}">
                <a16:creationId xmlns:a16="http://schemas.microsoft.com/office/drawing/2014/main" id="{998C92B8-B67A-4764-BF87-05C63BF17E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b168d31d946d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19F4A40E-7A7A-4005-85AD-A380C987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Process flow and confirmation">
            <a:extLst xmlns:a="http://schemas.openxmlformats.org/drawingml/2006/main">
              <a:ext uri="{FF2B5EF4-FFF2-40B4-BE49-F238E27FC236}">
                <a16:creationId xmlns:a16="http://schemas.microsoft.com/office/drawing/2014/main" id="{D177019F-8D48-46A9-8EC8-FA29FF15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Process flow and confirmation</a:t>
            </a:r>
          </a:p>
        </p:txBody>
      </p:sp>
      <p:sp>
        <p:nvSpPr>
          <p:cNvPr id="96" name="OpsCrew  /  Competition proposal  /  5">
            <a:extLst xmlns:a="http://schemas.openxmlformats.org/drawingml/2006/main">
              <a:ext uri="{FF2B5EF4-FFF2-40B4-BE49-F238E27FC236}">
                <a16:creationId xmlns:a16="http://schemas.microsoft.com/office/drawing/2014/main" id="{63DC8151-1D04-4CC7-A4C4-73004D07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5</a:t>
            </a:r>
          </a:p>
        </p:txBody>
      </p:sp>
      <p:sp>
        <p:nvSpPr>
          <p:cNvPr id="97" name="Synthetic intake">
            <a:extLst xmlns:a="http://schemas.openxmlformats.org/drawingml/2006/main">
              <a:ext uri="{FF2B5EF4-FFF2-40B4-BE49-F238E27FC236}">
                <a16:creationId xmlns:a16="http://schemas.microsoft.com/office/drawing/2014/main" id="{CA53F557-9076-4905-B035-A51652C1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Synthetic intake</a:t>
            </a:r>
          </a:p>
        </p:txBody>
      </p:sp>
      <p:sp>
        <p:nvSpPr>
          <p:cNvPr id="98" name="Gemini facts">
            <a:extLst xmlns:a="http://schemas.openxmlformats.org/drawingml/2006/main">
              <a:ext uri="{FF2B5EF4-FFF2-40B4-BE49-F238E27FC236}">
                <a16:creationId xmlns:a16="http://schemas.microsoft.com/office/drawing/2014/main" id="{9CD6BA0C-FEEC-482C-8559-666D145B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Gemini facts</a:t>
            </a:r>
          </a:p>
        </p:txBody>
      </p:sp>
      <p:sp>
        <p:nvSpPr>
          <p:cNvPr id="99" name="Planner + Reviewer">
            <a:extLst xmlns:a="http://schemas.openxmlformats.org/drawingml/2006/main">
              <a:ext uri="{FF2B5EF4-FFF2-40B4-BE49-F238E27FC236}">
                <a16:creationId xmlns:a16="http://schemas.microsoft.com/office/drawing/2014/main" id="{DA81050F-83B0-4F62-8722-0DDC8E5B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Planner + Reviewer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AF77D1B-2CA8-407E-9D43-36285724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5735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CBD3F51-6817-42CC-97C6-C411FD58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5735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02" name="Saved record readback">
            <a:extLst xmlns:a="http://schemas.openxmlformats.org/drawingml/2006/main">
              <a:ext uri="{FF2B5EF4-FFF2-40B4-BE49-F238E27FC236}">
                <a16:creationId xmlns:a16="http://schemas.microsoft.com/office/drawing/2014/main" id="{C614C267-8307-46B1-B564-ABA08162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7908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Saved record readback</a:t>
            </a:r>
          </a:p>
        </p:txBody>
      </p:sp>
      <p:sp>
        <p:nvSpPr>
          <p:cNvPr id="103" name="Human confirmation">
            <a:extLst xmlns:a="http://schemas.openxmlformats.org/drawingml/2006/main">
              <a:ext uri="{FF2B5EF4-FFF2-40B4-BE49-F238E27FC236}">
                <a16:creationId xmlns:a16="http://schemas.microsoft.com/office/drawing/2014/main" id="{8C16CC9A-BD1C-4EE6-8003-8244C952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Human confirmation</a:t>
            </a:r>
          </a:p>
        </p:txBody>
      </p:sp>
      <p:sp>
        <p:nvSpPr>
          <p:cNvPr id="104" name="Fixed policy checks">
            <a:extLst xmlns:a="http://schemas.openxmlformats.org/drawingml/2006/main">
              <a:ext uri="{FF2B5EF4-FFF2-40B4-BE49-F238E27FC236}">
                <a16:creationId xmlns:a16="http://schemas.microsoft.com/office/drawing/2014/main" id="{5E57C569-A635-41D8-A935-6B0424A5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908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Fixed policy checks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4C5082B-BAF6-4C8C-9C94-81C30D0D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67050"/>
            <a:ext cx="257175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31FEDD4-EBBD-49B5-8F70-8E54804C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67050"/>
            <a:ext cx="257175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08" name="Missing evidence produces a request plan. Contradi">
            <a:extLst xmlns:a="http://schemas.openxmlformats.org/drawingml/2006/main">
              <a:ext uri="{FF2B5EF4-FFF2-40B4-BE49-F238E27FC236}">
                <a16:creationId xmlns:a16="http://schemas.microsoft.com/office/drawing/2014/main" id="{4337E583-D2AB-4F17-8313-26BA38E9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962400"/>
            <a:ext cx="8429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Missing evidence produces a request plan. Contradictions block progression.</a:t>
            </a:r>
          </a:p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Editing intake requires a new analysis and a new confirmation.</a:t>
            </a:r>
          </a:p>
        </p:txBody>
      </p:sp>
    </p:spTree>
    <p:extLst>
      <p:ext uri="{BB962C8B-B14F-4D97-AF65-F5344CB8AC3E}">
        <p14:creationId xmlns:p14="http://schemas.microsoft.com/office/powerpoint/2010/main" val="20393544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068934AA-7726-4B83-AE3C-9A720EC8ED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397c848d2b6428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57EEB9D2-6A86-47AA-8D6E-EE0538877F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b65da549f43b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251ADFC4-A92B-4928-ABA5-D2222BC4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Interface in the recorded cloud demonstration">
            <a:extLst xmlns:a="http://schemas.openxmlformats.org/drawingml/2006/main">
              <a:ext uri="{FF2B5EF4-FFF2-40B4-BE49-F238E27FC236}">
                <a16:creationId xmlns:a16="http://schemas.microsoft.com/office/drawing/2014/main" id="{DF9CB49E-F88F-43DF-BE8C-02549949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Interface in the recorded cloud demonstration</a:t>
            </a:r>
          </a:p>
        </p:txBody>
      </p:sp>
      <p:sp>
        <p:nvSpPr>
          <p:cNvPr id="104" name="OpsCrew  /  Competition proposal  /  6">
            <a:extLst xmlns:a="http://schemas.openxmlformats.org/drawingml/2006/main">
              <a:ext uri="{FF2B5EF4-FFF2-40B4-BE49-F238E27FC236}">
                <a16:creationId xmlns:a16="http://schemas.microsoft.com/office/drawing/2014/main" id="{B0B00C22-9974-4ADA-A5FF-9D0EE5F8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6</a:t>
            </a:r>
          </a:p>
        </p:txBody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ED51946-4537-4012-936F-97CBAEA9F0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0e9b6962b477b"/>
          <a:stretch xmlns:a="http://schemas.openxmlformats.org/drawingml/2006/main"/>
        </p:blipFill>
        <p:spPr>
          <a:xfrm xmlns:a="http://schemas.openxmlformats.org/drawingml/2006/main">
            <a:off x="781707" y="1190625"/>
            <a:ext cx="5218386" cy="3429000"/>
          </a:xfrm>
          <a:prstGeom xmlns:a="http://schemas.openxmlformats.org/drawingml/2006/main" prst="rect">
            <a:avLst/>
          </a:prstGeom>
        </p:spPr>
      </p:pic>
      <p:sp>
        <p:nvSpPr>
          <p:cNvPr id="106" name="A person reviews the current result before confirm">
            <a:extLst xmlns:a="http://schemas.openxmlformats.org/drawingml/2006/main">
              <a:ext uri="{FF2B5EF4-FFF2-40B4-BE49-F238E27FC236}">
                <a16:creationId xmlns:a16="http://schemas.microsoft.com/office/drawing/2014/main" id="{E1DEA864-99F1-4A14-90C1-3E2D549A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381125"/>
            <a:ext cx="2095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 person reviews the current result before confirming an eligible handling record.</a:t>
            </a:r>
          </a:p>
        </p:txBody>
      </p:sp>
      <p:sp>
        <p:nvSpPr>
          <p:cNvPr id="107" name="Recorded UI, 15 October 2026, at 75 s. Synthetic e">
            <a:extLst xmlns:a="http://schemas.openxmlformats.org/drawingml/2006/main">
              <a:ext uri="{FF2B5EF4-FFF2-40B4-BE49-F238E27FC236}">
                <a16:creationId xmlns:a16="http://schemas.microsoft.com/office/drawing/2014/main" id="{E6AB5F5E-F106-44E6-9F7C-2C0448BB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86100"/>
            <a:ext cx="20955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Recorded UI, 15 October 2026, at 75 s. Synthetic example supplied by the team.</a:t>
            </a:r>
          </a:p>
        </p:txBody>
      </p:sp>
    </p:spTree>
    <p:extLst>
      <p:ext uri="{BB962C8B-B14F-4D97-AF65-F5344CB8AC3E}">
        <p14:creationId xmlns:p14="http://schemas.microsoft.com/office/powerpoint/2010/main" val="14980690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02F40BF-EFA3-42E7-B07F-A72C2A6251AC}"/>
              </a:ext>
            </a:extLst>
          </p:cNvPr>
          <p:cNvCxnSpPr>
            <a:stCxn xmlns:a="http://schemas.openxmlformats.org/drawingml/2006/main" id="120" idx="1"/>
            <a:endCxn xmlns:a="http://schemas.openxmlformats.org/drawingml/2006/main" id="114" idx="3"/>
          </p:cNvCxnSpPr>
          <p:nvPr/>
        </p:nvCxnSpPr>
        <p:spPr>
          <a:xfrm xmlns:a="http://schemas.openxmlformats.org/drawingml/2006/main" flipH="1" flipV="1">
            <a:off x="5819775" y="1762125"/>
            <a:ext cx="428625" cy="1514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67481"/>
            </a:solidFill>
            <a:prstDash val="solid"/>
            <a:tailEnd type="triangle" w="med" len="med"/>
          </a:ln>
        </p:spPr>
      </p:cxnSp>
      <p:cxnSp>
        <p:nvCxn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8B98474-C0D1-432C-8F6F-DC7FD3DAB153}"/>
              </a:ext>
            </a:extLst>
          </p:cNvPr>
          <p:cNvCxnSpPr>
            <a:stCxn xmlns:a="http://schemas.openxmlformats.org/drawingml/2006/main" id="114" idx="1"/>
            <a:endCxn xmlns:a="http://schemas.openxmlformats.org/drawingml/2006/main" id="118" idx="3"/>
          </p:cNvCxnSpPr>
          <p:nvPr/>
        </p:nvCxnSpPr>
        <p:spPr>
          <a:xfrm xmlns:a="http://schemas.openxmlformats.org/drawingml/2006/main" flipH="1">
            <a:off x="2867025" y="1762125"/>
            <a:ext cx="428625" cy="1514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67481"/>
            </a:solidFill>
            <a:prstDash val="solid"/>
            <a:tailEnd type="triangle" w="med" len="med"/>
          </a:ln>
        </p:spPr>
      </p:cxnSp>
      <p:cxnSp>
        <p:nvCxn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52EC959-0380-4DF7-99D3-467A7F5CE422}"/>
              </a:ext>
            </a:extLst>
          </p:cNvPr>
          <p:cNvCxnSpPr>
            <a:stCxn xmlns:a="http://schemas.openxmlformats.org/drawingml/2006/main" id="113" idx="2"/>
            <a:endCxn xmlns:a="http://schemas.openxmlformats.org/drawingml/2006/main" id="118" idx="0"/>
          </p:cNvCxnSpPr>
          <p:nvPr/>
        </p:nvCxnSpPr>
        <p:spPr>
          <a:xfrm xmlns:a="http://schemas.openxmlformats.org/drawingml/2006/main">
            <a:off x="1604963" y="2143125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7481"/>
            </a:solidFill>
            <a:prstDash val="solid"/>
            <a:tailEnd type="triangle" w="med" len="med"/>
          </a:ln>
        </p:spPr>
      </p:cxnSp>
      <p:cxnSp>
        <p:nvCxn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176D1EA-E984-4598-A3B8-A50A31F6BA3B}"/>
              </a:ext>
            </a:extLst>
          </p:cNvPr>
          <p:cNvCxnSpPr>
            <a:stCxn xmlns:a="http://schemas.openxmlformats.org/drawingml/2006/main" id="114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4557713" y="2143125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7481"/>
            </a:solidFill>
            <a:prstDash val="solid"/>
            <a:tailEnd type="triangle" w="med" len="med"/>
          </a:ln>
        </p:spPr>
      </p:cxnSp>
      <p:pic>
        <p:nvPicPr>
          <p:cNvPr id="108" name="Google Shape;108;p20">
            <a:extLst xmlns:a="http://schemas.openxmlformats.org/drawingml/2006/main">
              <a:ext uri="{FF2B5EF4-FFF2-40B4-BE49-F238E27FC236}">
                <a16:creationId xmlns:a16="http://schemas.microsoft.com/office/drawing/2014/main" id="{D8C1CCF9-15D3-45E4-9083-9246180AFB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8af26e585b54cd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9" name="Google Shape;109;p20">
            <a:extLst xmlns:a="http://schemas.openxmlformats.org/drawingml/2006/main">
              <a:ext uri="{FF2B5EF4-FFF2-40B4-BE49-F238E27FC236}">
                <a16:creationId xmlns:a16="http://schemas.microsoft.com/office/drawing/2014/main" id="{142CB74E-43AD-434D-8A52-C75EAA323D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0b20124f54c5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0">
            <a:extLst xmlns:a="http://schemas.openxmlformats.org/drawingml/2006/main">
              <a:ext uri="{FF2B5EF4-FFF2-40B4-BE49-F238E27FC236}">
                <a16:creationId xmlns:a16="http://schemas.microsoft.com/office/drawing/2014/main" id="{2D754BD6-5E27-4648-ADB3-240483EF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Cloud architecture and trust boundaries">
            <a:extLst xmlns:a="http://schemas.openxmlformats.org/drawingml/2006/main">
              <a:ext uri="{FF2B5EF4-FFF2-40B4-BE49-F238E27FC236}">
                <a16:creationId xmlns:a16="http://schemas.microsoft.com/office/drawing/2014/main" id="{09ACB3A4-5597-4F91-B43E-7A4DA4D0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Cloud architecture and trust boundaries</a:t>
            </a:r>
          </a:p>
        </p:txBody>
      </p:sp>
      <p:sp>
        <p:nvSpPr>
          <p:cNvPr id="112" name="OpsCrew  /  Competition proposal  /  7">
            <a:extLst xmlns:a="http://schemas.openxmlformats.org/drawingml/2006/main">
              <a:ext uri="{FF2B5EF4-FFF2-40B4-BE49-F238E27FC236}">
                <a16:creationId xmlns:a16="http://schemas.microsoft.com/office/drawing/2014/main" id="{2F640877-226D-49EC-A796-52A3AF96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7</a:t>
            </a:r>
          </a:p>
        </p:txBody>
      </p:sp>
      <p:sp>
        <p:nvSpPr>
          <p:cNvPr id="113" name="Browser&#10;English React interface">
            <a:extLst xmlns:a="http://schemas.openxmlformats.org/drawingml/2006/main">
              <a:ext uri="{FF2B5EF4-FFF2-40B4-BE49-F238E27FC236}">
                <a16:creationId xmlns:a16="http://schemas.microsoft.com/office/drawing/2014/main" id="{7D7BF11A-06B4-46B0-BA11-4D2F809E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Browser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English React interface</a:t>
            </a:r>
          </a:p>
        </p:txBody>
      </p:sp>
      <p:sp>
        <p:nvSpPr>
          <p:cNvPr id="114" name="Cloud Run&#10;Node API + validators">
            <a:extLst xmlns:a="http://schemas.openxmlformats.org/drawingml/2006/main">
              <a:ext uri="{FF2B5EF4-FFF2-40B4-BE49-F238E27FC236}">
                <a16:creationId xmlns:a16="http://schemas.microsoft.com/office/drawing/2014/main" id="{B0AACBF6-8339-482D-9F4D-2CB84FC0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Cloud Run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Node API + validators</a:t>
            </a:r>
          </a:p>
        </p:txBody>
      </p:sp>
      <p:sp>
        <p:nvSpPr>
          <p:cNvPr id="115" name="Vertex AI / Gemini&#10;Developer API option">
            <a:extLst xmlns:a="http://schemas.openxmlformats.org/drawingml/2006/main">
              <a:ext uri="{FF2B5EF4-FFF2-40B4-BE49-F238E27FC236}">
                <a16:creationId xmlns:a16="http://schemas.microsoft.com/office/drawing/2014/main" id="{91574614-1C9B-4E31-8A34-D421ACAF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Vertex AI / Gemini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Developer API option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F898CE3-C8CB-4690-910C-C16CDDC5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5735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12AF154-696D-43E4-8BBE-90405CEB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5735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18" name="Firebase Auth&#10;Visitor identity">
            <a:extLst xmlns:a="http://schemas.openxmlformats.org/drawingml/2006/main">
              <a:ext uri="{FF2B5EF4-FFF2-40B4-BE49-F238E27FC236}">
                <a16:creationId xmlns:a16="http://schemas.microsoft.com/office/drawing/2014/main" id="{CC4B7078-56B8-4A53-A88D-E930D155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95600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Firebase Auth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Visitor identity</a:t>
            </a:r>
          </a:p>
        </p:txBody>
      </p:sp>
      <p:sp>
        <p:nvSpPr>
          <p:cNvPr id="119" name="Firestore&#10;Plans / cases / quotas">
            <a:extLst xmlns:a="http://schemas.openxmlformats.org/drawingml/2006/main">
              <a:ext uri="{FF2B5EF4-FFF2-40B4-BE49-F238E27FC236}">
                <a16:creationId xmlns:a16="http://schemas.microsoft.com/office/drawing/2014/main" id="{D1A4C935-5FAD-4025-8826-FAD49E47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95600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Firestore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Plans / cases / quotas</a:t>
            </a:r>
          </a:p>
        </p:txBody>
      </p:sp>
      <p:sp>
        <p:nvSpPr>
          <p:cNvPr id="120" name="ADC service identity&#10;API key optional">
            <a:extLst xmlns:a="http://schemas.openxmlformats.org/drawingml/2006/main">
              <a:ext uri="{FF2B5EF4-FFF2-40B4-BE49-F238E27FC236}">
                <a16:creationId xmlns:a16="http://schemas.microsoft.com/office/drawing/2014/main" id="{23C02B98-A2D4-4AB6-B587-7FF769F5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95600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ADC service identity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API key optional</a:t>
            </a:r>
          </a:p>
        </p:txBody>
      </p:sp>
      <p:sp>
        <p:nvSpPr>
          <p:cNvPr id="125" name="The server selects Vertex AI with ADC or the optio">
            <a:extLst xmlns:a="http://schemas.openxmlformats.org/drawingml/2006/main">
              <a:ext uri="{FF2B5EF4-FFF2-40B4-BE49-F238E27FC236}">
                <a16:creationId xmlns:a16="http://schemas.microsoft.com/office/drawing/2014/main" id="{F87D55DD-CE5C-40C7-B188-3EBD9ECA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57650"/>
            <a:ext cx="8429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 server selects Vertex AI with ADC or the optional Developer API route. Model credentials stay on the server. Visitor identity controls access to plans and saved cases.</a:t>
            </a:r>
          </a:p>
        </p:txBody>
      </p:sp>
    </p:spTree>
    <p:extLst>
      <p:ext uri="{BB962C8B-B14F-4D97-AF65-F5344CB8AC3E}">
        <p14:creationId xmlns:p14="http://schemas.microsoft.com/office/powerpoint/2010/main" val="13678430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16;p21">
            <a:extLst xmlns:a="http://schemas.openxmlformats.org/drawingml/2006/main">
              <a:ext uri="{FF2B5EF4-FFF2-40B4-BE49-F238E27FC236}">
                <a16:creationId xmlns:a16="http://schemas.microsoft.com/office/drawing/2014/main" id="{9979204C-6FAB-446D-A6B8-5457B7217D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5198e5cf97745a2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117;p21">
            <a:extLst xmlns:a="http://schemas.openxmlformats.org/drawingml/2006/main">
              <a:ext uri="{FF2B5EF4-FFF2-40B4-BE49-F238E27FC236}">
                <a16:creationId xmlns:a16="http://schemas.microsoft.com/office/drawing/2014/main" id="{CD30CAE1-DC85-4387-A19F-E29255EBDF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21e389ea546f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1">
            <a:extLst xmlns:a="http://schemas.openxmlformats.org/drawingml/2006/main">
              <a:ext uri="{FF2B5EF4-FFF2-40B4-BE49-F238E27FC236}">
                <a16:creationId xmlns:a16="http://schemas.microsoft.com/office/drawing/2014/main" id="{D751051B-202B-48B0-8DD8-3AE7C02B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Technologies used in the solution">
            <a:extLst xmlns:a="http://schemas.openxmlformats.org/drawingml/2006/main">
              <a:ext uri="{FF2B5EF4-FFF2-40B4-BE49-F238E27FC236}">
                <a16:creationId xmlns:a16="http://schemas.microsoft.com/office/drawing/2014/main" id="{0DA1BC37-2390-4467-B5E6-2A4E053C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Technologies used in the solution</a:t>
            </a:r>
          </a:p>
        </p:txBody>
      </p:sp>
      <p:sp>
        <p:nvSpPr>
          <p:cNvPr id="120" name="OpsCrew  /  Competition proposal  /  8">
            <a:extLst xmlns:a="http://schemas.openxmlformats.org/drawingml/2006/main">
              <a:ext uri="{FF2B5EF4-FFF2-40B4-BE49-F238E27FC236}">
                <a16:creationId xmlns:a16="http://schemas.microsoft.com/office/drawing/2014/main" id="{453645AD-2569-4D2B-A673-8197BF41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8</a:t>
            </a:r>
          </a:p>
        </p:txBody>
      </p:sp>
      <p:graphicFrame>
        <p:nvGraphicFrame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D3637FD-9492-493C-8700-F1F41C397AD5}"/>
              </a:ext>
            </a:extLst>
          </p:cNvPr>
          <p:cNvGraphicFramePr/>
          <p:nvPr/>
        </p:nvGraphicFramePr>
        <p:xfrm>
          <a:off xmlns:a="http://schemas.openxmlformats.org/drawingml/2006/main" x="342900" y="1314450"/>
          <a:ext xmlns:a="http://schemas.openxmlformats.org/drawingml/2006/main" cx="8458200" cy="2981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5410200"/>
              </a:tblGrid>
              <a:tr h="49688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Component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Role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Google AI Studio Build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Fresh application origin on 7 October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Gemini server modes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Vertex AI with ADC; optional Developer API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Current service config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Gemini 2.5 Flash, self-reported on 16 October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Node 24 / React / TypeScript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Explicit confirmation and fixed API policy checks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Cloud Run + Firebase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Hosting, visitor identity and saved handling records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2" name="From zero in AI Studio Build. Antigravity assisted">
            <a:extLst xmlns:a="http://schemas.openxmlformats.org/drawingml/2006/main">
              <a:ext uri="{FF2B5EF4-FFF2-40B4-BE49-F238E27FC236}">
                <a16:creationId xmlns:a16="http://schemas.microsoft.com/office/drawing/2014/main" id="{54BF3B52-47F0-4B5E-A8E1-D7229425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81500"/>
            <a:ext cx="845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From zero in AI Studio Build. Antigravity assisted deployment (team-reported).</a:t>
            </a:r>
          </a:p>
        </p:txBody>
      </p:sp>
    </p:spTree>
    <p:extLst>
      <p:ext uri="{BB962C8B-B14F-4D97-AF65-F5344CB8AC3E}">
        <p14:creationId xmlns:p14="http://schemas.microsoft.com/office/powerpoint/2010/main" val="96527830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4" name="Google Shape;124;p22">
            <a:extLst xmlns:a="http://schemas.openxmlformats.org/drawingml/2006/main">
              <a:ext uri="{FF2B5EF4-FFF2-40B4-BE49-F238E27FC236}">
                <a16:creationId xmlns:a16="http://schemas.microsoft.com/office/drawing/2014/main" id="{D863DE21-9539-446C-971D-4DE8F7496C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0d885b03ac94190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5" name="Google Shape;125;p22">
            <a:extLst xmlns:a="http://schemas.openxmlformats.org/drawingml/2006/main">
              <a:ext uri="{FF2B5EF4-FFF2-40B4-BE49-F238E27FC236}">
                <a16:creationId xmlns:a16="http://schemas.microsoft.com/office/drawing/2014/main" id="{2E92A7D1-2069-4A80-B76D-0178BA22D9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0ab62f16748c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79619586-F09B-4364-810E-9F68C82E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Implementation cost and traffic controls">
            <a:extLst xmlns:a="http://schemas.openxmlformats.org/drawingml/2006/main">
              <a:ext uri="{FF2B5EF4-FFF2-40B4-BE49-F238E27FC236}">
                <a16:creationId xmlns:a16="http://schemas.microsoft.com/office/drawing/2014/main" id="{A893024E-C51C-4594-9CE9-D1828DA3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Implementation cost and traffic controls</a:t>
            </a:r>
          </a:p>
        </p:txBody>
      </p:sp>
      <p:sp>
        <p:nvSpPr>
          <p:cNvPr id="128" name="OpsCrew  /  Competition proposal  /  9">
            <a:extLst xmlns:a="http://schemas.openxmlformats.org/drawingml/2006/main">
              <a:ext uri="{FF2B5EF4-FFF2-40B4-BE49-F238E27FC236}">
                <a16:creationId xmlns:a16="http://schemas.microsoft.com/office/drawing/2014/main" id="{B5C088C6-954B-4D31-A6B9-7614D600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9</a:t>
            </a:r>
          </a:p>
        </p:txBody>
      </p:sp>
      <p:sp>
        <p:nvSpPr>
          <p:cNvPr id="129" name="Team management target: USD 40. Billing alerts and">
            <a:extLst xmlns:a="http://schemas.openxmlformats.org/drawingml/2006/main">
              <a:ext uri="{FF2B5EF4-FFF2-40B4-BE49-F238E27FC236}">
                <a16:creationId xmlns:a16="http://schemas.microsoft.com/office/drawing/2014/main" id="{AF8901D4-3CDA-432F-B1D2-61A86338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8458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Team management target: USD 40. Billing alerts and application quotas cannot guarantee a monetary spending cap.</a:t>
            </a:r>
          </a:p>
        </p:txBody>
      </p:sp>
      <p:sp>
        <p:nvSpPr>
          <p:cNvPr id="130" name="Default model limits: 2 concurrent runs globally, ">
            <a:extLst xmlns:a="http://schemas.openxmlformats.org/drawingml/2006/main">
              <a:ext uri="{FF2B5EF4-FFF2-40B4-BE49-F238E27FC236}">
                <a16:creationId xmlns:a16="http://schemas.microsoft.com/office/drawing/2014/main" id="{5F715445-9DD6-480E-A8D4-0CE3D532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76450"/>
            <a:ext cx="8458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Default model limits: 2 concurrent runs globally, 1 per visitor. Each visitor has 2 runs per minute and 12 per UTC day.</a:t>
            </a:r>
          </a:p>
        </p:txBody>
      </p:sp>
      <p:sp>
        <p:nvSpPr>
          <p:cNvPr id="131" name="Global limits: 6 runs per minute and 60 per UTC da">
            <a:extLst xmlns:a="http://schemas.openxmlformats.org/drawingml/2006/main">
              <a:ext uri="{FF2B5EF4-FFF2-40B4-BE49-F238E27FC236}">
                <a16:creationId xmlns:a16="http://schemas.microsoft.com/office/drawing/2014/main" id="{CBC696B5-AF68-4DE6-AE5F-413551B1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14650"/>
            <a:ext cx="8458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Global limits: 6 runs per minute and 60 per UTC day. Each workflow reserves up to 6 provider attempts. Unknown usage receives no refund.</a:t>
            </a:r>
          </a:p>
        </p:txBody>
      </p:sp>
      <p:sp>
        <p:nvSpPr>
          <p:cNvPr id="132" name="Historical 13 October Developer API observations: ">
            <a:extLst xmlns:a="http://schemas.openxmlformats.org/drawingml/2006/main">
              <a:ext uri="{FF2B5EF4-FFF2-40B4-BE49-F238E27FC236}">
                <a16:creationId xmlns:a16="http://schemas.microsoft.com/office/drawing/2014/main" id="{A67B9C94-870A-4ADC-A8FB-B2BF243B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52850"/>
            <a:ext cx="8458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Historical 13 October Developer API observations: 10 attempts and 11,680 known tokens. One FACTS call returned 503. Its usage and actual billed cost are unknown.</a:t>
            </a:r>
          </a:p>
        </p:txBody>
      </p:sp>
    </p:spTree>
    <p:extLst>
      <p:ext uri="{BB962C8B-B14F-4D97-AF65-F5344CB8AC3E}">
        <p14:creationId xmlns:p14="http://schemas.microsoft.com/office/powerpoint/2010/main" val="11238874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32;p23">
            <a:extLst xmlns:a="http://schemas.openxmlformats.org/drawingml/2006/main">
              <a:ext uri="{FF2B5EF4-FFF2-40B4-BE49-F238E27FC236}">
                <a16:creationId xmlns:a16="http://schemas.microsoft.com/office/drawing/2014/main" id="{DE9960B0-9912-4EB2-97C6-38C1C8A3C0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67ed8758e9d4ca3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3" name="Google Shape;133;p23">
            <a:extLst xmlns:a="http://schemas.openxmlformats.org/drawingml/2006/main">
              <a:ext uri="{FF2B5EF4-FFF2-40B4-BE49-F238E27FC236}">
                <a16:creationId xmlns:a16="http://schemas.microsoft.com/office/drawing/2014/main" id="{5DC285C7-2BE6-42EE-BA6C-4A354C6F4C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88d26834140e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D5E02086-F12D-44B8-A3D6-F060B7E0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Prototype: confirmed case and independent readback">
            <a:extLst xmlns:a="http://schemas.openxmlformats.org/drawingml/2006/main">
              <a:ext uri="{FF2B5EF4-FFF2-40B4-BE49-F238E27FC236}">
                <a16:creationId xmlns:a16="http://schemas.microsoft.com/office/drawing/2014/main" id="{86827C05-0C14-4D93-995D-B24CA441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Prototype: confirmed case and independent readback</a:t>
            </a:r>
          </a:p>
        </p:txBody>
      </p:sp>
      <p:sp>
        <p:nvSpPr>
          <p:cNvPr id="136" name="OpsCrew  /  Competition proposal  /  10">
            <a:extLst xmlns:a="http://schemas.openxmlformats.org/drawingml/2006/main">
              <a:ext uri="{FF2B5EF4-FFF2-40B4-BE49-F238E27FC236}">
                <a16:creationId xmlns:a16="http://schemas.microsoft.com/office/drawing/2014/main" id="{D25BC657-4170-4522-A386-76BF2B63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10</a:t>
            </a:r>
          </a:p>
        </p:txBody>
      </p:sp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5340E01-6E0A-43A9-8604-1D42DDCB44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4551458314db8"/>
          <a:stretch xmlns:a="http://schemas.openxmlformats.org/drawingml/2006/main"/>
        </p:blipFill>
        <p:spPr>
          <a:xfrm xmlns:a="http://schemas.openxmlformats.org/drawingml/2006/main">
            <a:off x="342900" y="1339270"/>
            <a:ext cx="8458200" cy="2836436"/>
          </a:xfrm>
          <a:prstGeom xmlns:a="http://schemas.openxmlformats.org/drawingml/2006/main" prst="rect">
            <a:avLst/>
          </a:prstGeom>
        </p:spPr>
      </p:pic>
      <p:sp>
        <p:nvSpPr>
          <p:cNvPr id="138" name="Recorded UI, 15 October 2026, at 96 s. The confirm">
            <a:extLst xmlns:a="http://schemas.openxmlformats.org/drawingml/2006/main">
              <a:ext uri="{FF2B5EF4-FFF2-40B4-BE49-F238E27FC236}">
                <a16:creationId xmlns:a16="http://schemas.microsoft.com/office/drawing/2014/main" id="{25AFE896-D6CC-4F30-A8B1-3BCA4C3F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24350"/>
            <a:ext cx="8458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Recorded UI, 15 October 2026, at 96 s. The confirmed USD 38 synthetic request is OPEN. No reimbursement approval or payment occurs.</a:t>
            </a:r>
          </a:p>
        </p:txBody>
      </p:sp>
    </p:spTree>
    <p:extLst>
      <p:ext uri="{BB962C8B-B14F-4D97-AF65-F5344CB8AC3E}">
        <p14:creationId xmlns:p14="http://schemas.microsoft.com/office/powerpoint/2010/main" val="59896158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140;p24">
            <a:extLst xmlns:a="http://schemas.openxmlformats.org/drawingml/2006/main">
              <a:ext uri="{FF2B5EF4-FFF2-40B4-BE49-F238E27FC236}">
                <a16:creationId xmlns:a16="http://schemas.microsoft.com/office/drawing/2014/main" id="{C31C5F40-7736-43AE-82E1-D461A1D66F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c1671d271284e79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C1C370EB-6BF0-4B34-B473-7B9F71BA3D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e8f49514fe4f6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E4BBB411-0D72-4CE8-85CA-33FACCDF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Performance report and evidence boundaries">
            <a:extLst xmlns:a="http://schemas.openxmlformats.org/drawingml/2006/main">
              <a:ext uri="{FF2B5EF4-FFF2-40B4-BE49-F238E27FC236}">
                <a16:creationId xmlns:a16="http://schemas.microsoft.com/office/drawing/2014/main" id="{916C377C-7ED2-43DE-A8D6-B60A9C0A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Performance report and evidence boundaries</a:t>
            </a:r>
          </a:p>
        </p:txBody>
      </p:sp>
      <p:sp>
        <p:nvSpPr>
          <p:cNvPr id="144" name="OpsCrew  /  Competition proposal  /  11">
            <a:extLst xmlns:a="http://schemas.openxmlformats.org/drawingml/2006/main">
              <a:ext uri="{FF2B5EF4-FFF2-40B4-BE49-F238E27FC236}">
                <a16:creationId xmlns:a16="http://schemas.microsoft.com/office/drawing/2014/main" id="{B13D187E-2E20-47DA-AC9E-61D63A5C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11</a:t>
            </a:r>
          </a:p>
        </p:txBody>
      </p:sp>
      <p:graphicFrame>
        <p:nvGraphicFrame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4AA9D0D-5F15-499E-9384-CFDC8FFCCD88}"/>
              </a:ext>
            </a:extLst>
          </p:cNvPr>
          <p:cNvGraphicFramePr/>
          <p:nvPr/>
        </p:nvGraphicFramePr>
        <p:xfrm>
          <a:off xmlns:a="http://schemas.openxmlformats.org/drawingml/2006/main" x="342900" y="1314450"/>
          <a:ext xmlns:a="http://schemas.openxmlformats.org/drawingml/2006/main" cx="84582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1504950"/>
                <a:gridCol w="4429125"/>
              </a:tblGrid>
              <a:tr h="479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Evidence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Method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T w="9525">
                      <a:solidFill>
                        <a:srgbClr val="D3DDE2"/>
                      </a:solidFill>
                      <a:prstDash val="solid"/>
                    </a:lnT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Historical cloud core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11 / 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3.1 Flash-Lite Developer API, 13 Oct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Historical cloud safety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14 / 14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13 Oct, includes overlapping core checks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Historical real workflows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3 public cases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3.1 Flash-Lite, 13 Oct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Offline engineering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246 / 246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2026-10-16 local regressions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Native artifact checks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3DDE2"/>
                      </a:solidFill>
                      <a:prstDash val="solid"/>
                    </a:lnL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12 groups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9 HTTP checks included, 2026-10-16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3DDE2"/>
                      </a:solidFill>
                      <a:prstDash val="solid"/>
                    </a:lnR>
                    <a:lnB w="9525">
                      <a:solidFill>
                        <a:srgbClr val="D3DD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6" name="13 October workflow observations: 8.381-12.042 s, ">
            <a:extLst xmlns:a="http://schemas.openxmlformats.org/drawingml/2006/main">
              <a:ext uri="{FF2B5EF4-FFF2-40B4-BE49-F238E27FC236}">
                <a16:creationId xmlns:a16="http://schemas.microsoft.com/office/drawing/2014/main" id="{0AF39486-8395-4E6C-B70B-7EB3D7FE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43400"/>
            <a:ext cx="8458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13 October workflow observations: 8.381-12.042 s, including recovery from one 503. These results do not certify the current Vertex backend, an SLA or independent held-out acceptance.</a:t>
            </a:r>
          </a:p>
        </p:txBody>
      </p:sp>
    </p:spTree>
    <p:extLst>
      <p:ext uri="{BB962C8B-B14F-4D97-AF65-F5344CB8AC3E}">
        <p14:creationId xmlns:p14="http://schemas.microsoft.com/office/powerpoint/2010/main" val="27137225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48;p25">
            <a:extLst xmlns:a="http://schemas.openxmlformats.org/drawingml/2006/main">
              <a:ext uri="{FF2B5EF4-FFF2-40B4-BE49-F238E27FC236}">
                <a16:creationId xmlns:a16="http://schemas.microsoft.com/office/drawing/2014/main" id="{A302D29E-2ACF-4695-A78D-6CC94E215F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b72362f108410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767179F5-15D2-4539-BFB9-E837D0F9FC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77ac20e234d8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53310015-73DC-4664-9AD5-E2C38EBC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Additional details and future development">
            <a:extLst xmlns:a="http://schemas.openxmlformats.org/drawingml/2006/main">
              <a:ext uri="{FF2B5EF4-FFF2-40B4-BE49-F238E27FC236}">
                <a16:creationId xmlns:a16="http://schemas.microsoft.com/office/drawing/2014/main" id="{1B1B0B2C-0DBF-4F1E-92BB-D6F21843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Additional details and future development</a:t>
            </a:r>
          </a:p>
        </p:txBody>
      </p:sp>
      <p:sp>
        <p:nvSpPr>
          <p:cNvPr id="152" name="OpsCrew  /  Competition proposal  /  12">
            <a:extLst xmlns:a="http://schemas.openxmlformats.org/drawingml/2006/main">
              <a:ext uri="{FF2B5EF4-FFF2-40B4-BE49-F238E27FC236}">
                <a16:creationId xmlns:a16="http://schemas.microsoft.com/office/drawing/2014/main" id="{D56B7CFF-441A-4B6A-8208-60C6762A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12</a:t>
            </a:r>
          </a:p>
        </p:txBody>
      </p:sp>
      <p:sp>
        <p:nvSpPr>
          <p:cNvPr id="153" name="Extend deployment operations checks and provider r">
            <a:extLst xmlns:a="http://schemas.openxmlformats.org/drawingml/2006/main">
              <a:ext uri="{FF2B5EF4-FFF2-40B4-BE49-F238E27FC236}">
                <a16:creationId xmlns:a16="http://schemas.microsoft.com/office/drawing/2014/main" id="{506C7216-DAC2-4A42-82BC-523EBC45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57300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Extend deployment operations checks and provider regression coverage. The retained real-model API evidence is dated 13 October; current provider switching has separate offline tests.</a:t>
            </a:r>
          </a:p>
        </p:txBody>
      </p:sp>
      <p:sp>
        <p:nvSpPr>
          <p:cNvPr id="154" name="Current evidence uses public synthetic examples. I">
            <a:extLst xmlns:a="http://schemas.openxmlformats.org/drawingml/2006/main">
              <a:ext uri="{FF2B5EF4-FFF2-40B4-BE49-F238E27FC236}">
                <a16:creationId xmlns:a16="http://schemas.microsoft.com/office/drawing/2014/main" id="{953A0B49-87EA-487B-96E0-C76F5D67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85975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Current evidence uses public synthetic examples. Independent held-out evaluation and staff timing studies remain future validation work.</a:t>
            </a:r>
          </a:p>
        </p:txBody>
      </p:sp>
      <p:sp>
        <p:nvSpPr>
          <p:cNvPr id="155" name="The 3 min 30.66 s demonstration combines recorded ">
            <a:extLst xmlns:a="http://schemas.openxmlformats.org/drawingml/2006/main">
              <a:ext uri="{FF2B5EF4-FFF2-40B4-BE49-F238E27FC236}">
                <a16:creationId xmlns:a16="http://schemas.microsoft.com/office/drawing/2014/main" id="{AD55711A-BC0F-4FC2-8306-44EC8701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14650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 3 min 30.66 s demonstration combines recorded interface operation with explanatory title cards and English narration. Synthetic examples show the person's review before case creation.</a:t>
            </a:r>
          </a:p>
        </p:txBody>
      </p:sp>
      <p:sp>
        <p:nvSpPr>
          <p:cNvPr id="156" name="After evaluation, consider broader policies and st">
            <a:extLst xmlns:a="http://schemas.openxmlformats.org/drawingml/2006/main">
              <a:ext uri="{FF2B5EF4-FFF2-40B4-BE49-F238E27FC236}">
                <a16:creationId xmlns:a16="http://schemas.microsoft.com/office/drawing/2014/main" id="{2ED9B7E2-B096-4EE0-8841-7ED5EE84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43325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After evaluation, consider broader policies and staff timing studies. Production reimbursement integrations require a separate design and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135511162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56;p26">
            <a:extLst xmlns:a="http://schemas.openxmlformats.org/drawingml/2006/main">
              <a:ext uri="{FF2B5EF4-FFF2-40B4-BE49-F238E27FC236}">
                <a16:creationId xmlns:a16="http://schemas.microsoft.com/office/drawing/2014/main" id="{DD4CFEFE-24C2-4B1F-BB4A-5B55B08399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36cca34673f4c1b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57;p26">
            <a:extLst xmlns:a="http://schemas.openxmlformats.org/drawingml/2006/main">
              <a:ext uri="{FF2B5EF4-FFF2-40B4-BE49-F238E27FC236}">
                <a16:creationId xmlns:a16="http://schemas.microsoft.com/office/drawing/2014/main" id="{FFF332AD-2790-4A4A-8166-0C49FAB854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3213ce40740a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0FFD1CB1-0535-4FE0-9C65-6B5F0012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Repository, demo and final product links">
            <a:extLst xmlns:a="http://schemas.openxmlformats.org/drawingml/2006/main">
              <a:ext uri="{FF2B5EF4-FFF2-40B4-BE49-F238E27FC236}">
                <a16:creationId xmlns:a16="http://schemas.microsoft.com/office/drawing/2014/main" id="{21598036-DF88-4DAF-A8E1-443A2780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Repository, demo and final product links</a:t>
            </a:r>
          </a:p>
        </p:txBody>
      </p:sp>
      <p:sp>
        <p:nvSpPr>
          <p:cNvPr id="160" name="OpsCrew  /  Competition proposal  /  13">
            <a:extLst xmlns:a="http://schemas.openxmlformats.org/drawingml/2006/main">
              <a:ext uri="{FF2B5EF4-FFF2-40B4-BE49-F238E27FC236}">
                <a16:creationId xmlns:a16="http://schemas.microsoft.com/office/drawing/2014/main" id="{74DBC182-73BE-44E6-B4B5-689724F5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Competition proposal  /  13</a:t>
            </a:r>
          </a:p>
        </p:txBody>
      </p:sp>
      <p:sp>
        <p:nvSpPr>
          <p:cNvPr id="161" name="Public GitHub repository">
            <a:extLst xmlns:a="http://schemas.openxmlformats.org/drawingml/2006/main">
              <a:ext uri="{FF2B5EF4-FFF2-40B4-BE49-F238E27FC236}">
                <a16:creationId xmlns:a16="http://schemas.microsoft.com/office/drawing/2014/main" id="{3B5BA90D-7588-4A12-99B4-345A2829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95400"/>
            <a:ext cx="8458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  <a:hlinkClick xmlns:r="http://schemas.openxmlformats.org/officeDocument/2006/relationships" r:id="R8e77750b5ee64ac1"/>
              </a:rPr>
              <a:t>Public GitHub repository</a:t>
            </a:r>
          </a:p>
        </p:txBody>
      </p:sp>
      <p:sp>
        <p:nvSpPr>
          <p:cNvPr id="162" name="github.com/sundaylee3100-ljl/AI-Builder-Cup-2026-O">
            <a:extLst xmlns:a="http://schemas.openxmlformats.org/drawingml/2006/main">
              <a:ext uri="{FF2B5EF4-FFF2-40B4-BE49-F238E27FC236}">
                <a16:creationId xmlns:a16="http://schemas.microsoft.com/office/drawing/2014/main" id="{3EEA0FDD-D076-4F81-927E-4163C6C7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85925"/>
            <a:ext cx="845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github.com/sundaylee3100-ljl/AI-Builder-Cup-2026-OpsCrew</a:t>
            </a:r>
          </a:p>
        </p:txBody>
      </p:sp>
      <p:sp>
        <p:nvSpPr>
          <p:cNvPr id="163" name="Cloud product URL">
            <a:extLst xmlns:a="http://schemas.openxmlformats.org/drawingml/2006/main">
              <a:ext uri="{FF2B5EF4-FFF2-40B4-BE49-F238E27FC236}">
                <a16:creationId xmlns:a16="http://schemas.microsoft.com/office/drawing/2014/main" id="{0538DDBD-6282-495D-8ADE-23D29EE4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28850"/>
            <a:ext cx="8458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  <a:hlinkClick xmlns:r="http://schemas.openxmlformats.org/officeDocument/2006/relationships" r:id="R9a7f6d585c0e4d11"/>
              </a:rPr>
              <a:t>Cloud product URL</a:t>
            </a:r>
          </a:p>
        </p:txBody>
      </p:sp>
      <p:sp>
        <p:nvSpPr>
          <p:cNvPr id="164" name="https://opscrew-883881551915.us-central1.run.app">
            <a:extLst xmlns:a="http://schemas.openxmlformats.org/drawingml/2006/main">
              <a:ext uri="{FF2B5EF4-FFF2-40B4-BE49-F238E27FC236}">
                <a16:creationId xmlns:a16="http://schemas.microsoft.com/office/drawing/2014/main" id="{FB8828C7-CE2D-4315-8C0C-3DB296F2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09850"/>
            <a:ext cx="845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https://opscrew-883881551915.us-central1.run.app</a:t>
            </a:r>
          </a:p>
        </p:txBody>
      </p:sp>
      <p:sp>
        <p:nvSpPr>
          <p:cNvPr id="165" name="Demo video (3 min 30.66 s)">
            <a:extLst xmlns:a="http://schemas.openxmlformats.org/drawingml/2006/main">
              <a:ext uri="{FF2B5EF4-FFF2-40B4-BE49-F238E27FC236}">
                <a16:creationId xmlns:a16="http://schemas.microsoft.com/office/drawing/2014/main" id="{0B0A0A32-251D-49A9-BA31-59CADF40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09925"/>
            <a:ext cx="845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  <a:hlinkClick xmlns:r="http://schemas.openxmlformats.org/officeDocument/2006/relationships" r:id="R7ed604b51ddc40de"/>
              </a:rPr>
              <a:t>Demo video (3 min 30.66 s)</a:t>
            </a:r>
          </a:p>
        </p:txBody>
      </p:sp>
      <p:sp>
        <p:nvSpPr>
          <p:cNvPr id="166" name="https://youtu.be/rdbS1XUNUjw">
            <a:extLst xmlns:a="http://schemas.openxmlformats.org/drawingml/2006/main">
              <a:ext uri="{FF2B5EF4-FFF2-40B4-BE49-F238E27FC236}">
                <a16:creationId xmlns:a16="http://schemas.microsoft.com/office/drawing/2014/main" id="{CA9D3CB1-10AE-4EC4-A3DD-1478BFC2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600450"/>
            <a:ext cx="845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https://youtu.be/rdbS1XUNUjw</a:t>
            </a:r>
          </a:p>
        </p:txBody>
      </p:sp>
      <p:sp>
        <p:nvSpPr>
          <p:cNvPr id="167" name="Created in Google AI Studio Build on 7 October. Hi">
            <a:extLst xmlns:a="http://schemas.openxmlformats.org/drawingml/2006/main">
              <a:ext uri="{FF2B5EF4-FFF2-40B4-BE49-F238E27FC236}">
                <a16:creationId xmlns:a16="http://schemas.microsoft.com/office/drawing/2014/main" id="{65DE06D7-CD5E-4441-96F1-B1E8A0C1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19575"/>
            <a:ext cx="845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Created in Google AI Studio Build on 7 October. Historical cloud API evidence: 13 October. Integrated offline checks: 2026-10-16.</a:t>
            </a:r>
          </a:p>
        </p:txBody>
      </p:sp>
    </p:spTree>
    <p:extLst>
      <p:ext uri="{BB962C8B-B14F-4D97-AF65-F5344CB8AC3E}">
        <p14:creationId xmlns:p14="http://schemas.microsoft.com/office/powerpoint/2010/main" val="1181742348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2026-10-17T04:38:35.3400000Z</dcterms:created>
  <dcterms:modified xsi:type="dcterms:W3CDTF">2026-10-17T04:38:35.3400000Z</dcterms:modified>
</coreProperties>
</file>